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</p:sldIdLst>
  <p:sldSz cx="18288000" cy="10287000"/>
  <p:notesSz cx="6858000" cy="9144000"/>
  <p:embeddedFontLst>
    <p:embeddedFont>
      <p:font typeface="Aptos Bold" charset="1" panose="020B0004020202020204"/>
      <p:regular r:id="rId11"/>
    </p:embeddedFont>
    <p:embeddedFont>
      <p:font typeface="Aptos" charset="1" panose="020B0004020202020204"/>
      <p:regular r:id="rId12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fonts/font11.fntdata" Type="http://schemas.openxmlformats.org/officeDocument/2006/relationships/font"/><Relationship Id="rId12" Target="fonts/font12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slide1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301840" cy="10295039"/>
            <a:chOff x="0" y="0"/>
            <a:chExt cx="24402453" cy="1372671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402414" cy="13726668"/>
            </a:xfrm>
            <a:custGeom>
              <a:avLst/>
              <a:gdLst/>
              <a:ahLst/>
              <a:cxnLst/>
              <a:rect r="r" b="b" t="t" l="l"/>
              <a:pathLst>
                <a:path h="13726668" w="24402414">
                  <a:moveTo>
                    <a:pt x="0" y="0"/>
                  </a:moveTo>
                  <a:lnTo>
                    <a:pt x="24402414" y="0"/>
                  </a:lnTo>
                  <a:lnTo>
                    <a:pt x="24402414" y="13726668"/>
                  </a:lnTo>
                  <a:lnTo>
                    <a:pt x="0" y="13726668"/>
                  </a:lnTo>
                  <a:close/>
                </a:path>
              </a:pathLst>
            </a:custGeom>
            <a:solidFill>
              <a:srgbClr val="0F1F2D"/>
            </a:solidFill>
          </p:spPr>
        </p:sp>
      </p:grpSp>
      <p:sp>
        <p:nvSpPr>
          <p:cNvPr name="TextBox 4" id="4"/>
          <p:cNvSpPr txBox="true"/>
          <p:nvPr/>
        </p:nvSpPr>
        <p:spPr>
          <a:xfrm rot="0">
            <a:off x="1052312" y="937955"/>
            <a:ext cx="5307806" cy="4576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81"/>
              </a:lnSpc>
            </a:pPr>
            <a:r>
              <a:rPr lang="en-US" sz="1651" b="true">
                <a:solidFill>
                  <a:srgbClr val="FFFFFF"/>
                </a:solidFill>
                <a:latin typeface="Aptos Bold"/>
                <a:ea typeface="Aptos Bold"/>
                <a:cs typeface="Aptos Bold"/>
                <a:sym typeface="Aptos Bold"/>
              </a:rPr>
              <a:t>SMART ENERGY • NILM • WEB DASHBOARD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052312" y="2182892"/>
            <a:ext cx="11210296" cy="19580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584"/>
              </a:lnSpc>
            </a:pPr>
            <a:r>
              <a:rPr lang="en-US" sz="4653" b="true">
                <a:solidFill>
                  <a:srgbClr val="FFFFFF"/>
                </a:solidFill>
                <a:latin typeface="Aptos Bold"/>
                <a:ea typeface="Aptos Bold"/>
                <a:cs typeface="Aptos Bold"/>
                <a:sym typeface="Aptos Bold"/>
              </a:rPr>
              <a:t>NILM-Based Smart Energy Monitoring</a:t>
            </a:r>
          </a:p>
          <a:p>
            <a:pPr algn="l">
              <a:lnSpc>
                <a:spcPts val="5584"/>
              </a:lnSpc>
            </a:pPr>
            <a:r>
              <a:rPr lang="en-US" sz="4653" b="true">
                <a:solidFill>
                  <a:srgbClr val="FFFFFF"/>
                </a:solidFill>
                <a:latin typeface="Aptos Bold"/>
                <a:ea typeface="Aptos Bold"/>
                <a:cs typeface="Aptos Bold"/>
                <a:sym typeface="Aptos Bold"/>
              </a:rPr>
              <a:t>&amp; Intelligent Consumption Alert System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079764" y="4644171"/>
            <a:ext cx="10112159" cy="5948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2"/>
              </a:lnSpc>
            </a:pPr>
            <a:r>
              <a:rPr lang="en-US" sz="2702">
                <a:solidFill>
                  <a:srgbClr val="C3DCE0"/>
                </a:solidFill>
                <a:latin typeface="Aptos"/>
                <a:ea typeface="Aptos"/>
                <a:cs typeface="Aptos"/>
                <a:sym typeface="Aptos"/>
              </a:rPr>
              <a:t>A solution for high household electricity consumption</a:t>
            </a:r>
          </a:p>
        </p:txBody>
      </p:sp>
      <p:grpSp>
        <p:nvGrpSpPr>
          <p:cNvPr name="Group 7" id="7"/>
          <p:cNvGrpSpPr/>
          <p:nvPr/>
        </p:nvGrpSpPr>
        <p:grpSpPr>
          <a:xfrm rot="0">
            <a:off x="12072366" y="1983229"/>
            <a:ext cx="4818650" cy="1661503"/>
            <a:chOff x="0" y="0"/>
            <a:chExt cx="6424866" cy="2215337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6424803" cy="2215261"/>
            </a:xfrm>
            <a:custGeom>
              <a:avLst/>
              <a:gdLst/>
              <a:ahLst/>
              <a:cxnLst/>
              <a:rect r="r" b="b" t="t" l="l"/>
              <a:pathLst>
                <a:path h="2215261" w="6424803">
                  <a:moveTo>
                    <a:pt x="0" y="369189"/>
                  </a:moveTo>
                  <a:cubicBezTo>
                    <a:pt x="0" y="165354"/>
                    <a:pt x="165354" y="0"/>
                    <a:pt x="369189" y="0"/>
                  </a:cubicBezTo>
                  <a:lnTo>
                    <a:pt x="6055614" y="0"/>
                  </a:lnTo>
                  <a:cubicBezTo>
                    <a:pt x="6259576" y="0"/>
                    <a:pt x="6424803" y="165354"/>
                    <a:pt x="6424803" y="369189"/>
                  </a:cubicBezTo>
                  <a:lnTo>
                    <a:pt x="6424803" y="1846072"/>
                  </a:lnTo>
                  <a:cubicBezTo>
                    <a:pt x="6424803" y="2050034"/>
                    <a:pt x="6259449" y="2215261"/>
                    <a:pt x="6055614" y="2215261"/>
                  </a:cubicBezTo>
                  <a:lnTo>
                    <a:pt x="369189" y="2215261"/>
                  </a:lnTo>
                  <a:cubicBezTo>
                    <a:pt x="165354" y="2215388"/>
                    <a:pt x="0" y="2050034"/>
                    <a:pt x="0" y="1846072"/>
                  </a:cubicBezTo>
                  <a:close/>
                </a:path>
              </a:pathLst>
            </a:custGeom>
            <a:solidFill>
              <a:srgbClr val="F4F8F9"/>
            </a:solidFill>
            <a:ln w="14299" cap="sq">
              <a:solidFill>
                <a:srgbClr val="E1EBED"/>
              </a:solidFill>
              <a:prstDash val="solid"/>
              <a:miter/>
            </a:ln>
          </p:spPr>
        </p:sp>
      </p:grpSp>
      <p:grpSp>
        <p:nvGrpSpPr>
          <p:cNvPr name="Group 9" id="9"/>
          <p:cNvGrpSpPr/>
          <p:nvPr/>
        </p:nvGrpSpPr>
        <p:grpSpPr>
          <a:xfrm rot="0">
            <a:off x="12079519" y="1990373"/>
            <a:ext cx="96088" cy="1647206"/>
            <a:chOff x="0" y="0"/>
            <a:chExt cx="128118" cy="2196274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28143" cy="2196338"/>
            </a:xfrm>
            <a:custGeom>
              <a:avLst/>
              <a:gdLst/>
              <a:ahLst/>
              <a:cxnLst/>
              <a:rect r="r" b="b" t="t" l="l"/>
              <a:pathLst>
                <a:path h="2196338" w="128143">
                  <a:moveTo>
                    <a:pt x="0" y="0"/>
                  </a:moveTo>
                  <a:lnTo>
                    <a:pt x="128143" y="0"/>
                  </a:lnTo>
                  <a:lnTo>
                    <a:pt x="128143" y="2196338"/>
                  </a:lnTo>
                  <a:lnTo>
                    <a:pt x="0" y="2196338"/>
                  </a:lnTo>
                  <a:close/>
                </a:path>
              </a:pathLst>
            </a:custGeom>
            <a:solidFill>
              <a:srgbClr val="D54E4E"/>
            </a:solidFill>
          </p:spPr>
        </p:sp>
      </p:grpSp>
      <p:sp>
        <p:nvSpPr>
          <p:cNvPr name="TextBox 11" id="11"/>
          <p:cNvSpPr txBox="true"/>
          <p:nvPr/>
        </p:nvSpPr>
        <p:spPr>
          <a:xfrm rot="0">
            <a:off x="12514126" y="2310632"/>
            <a:ext cx="4072404" cy="3889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82"/>
              </a:lnSpc>
            </a:pPr>
            <a:r>
              <a:rPr lang="en-US" sz="2401" b="true">
                <a:solidFill>
                  <a:srgbClr val="0F1F2D"/>
                </a:solidFill>
                <a:latin typeface="Aptos Bold"/>
                <a:ea typeface="Aptos Bold"/>
                <a:cs typeface="Aptos Bold"/>
                <a:sym typeface="Aptos Bold"/>
              </a:rPr>
              <a:t>THE PROBLEM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2514126" y="2969514"/>
            <a:ext cx="4072404" cy="4576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51"/>
              </a:lnSpc>
            </a:pPr>
            <a:r>
              <a:rPr lang="en-US" sz="1876">
                <a:solidFill>
                  <a:srgbClr val="233038"/>
                </a:solidFill>
                <a:latin typeface="Aptos"/>
                <a:ea typeface="Aptos"/>
                <a:cs typeface="Aptos"/>
                <a:sym typeface="Aptos"/>
              </a:rPr>
              <a:t>Total consumption is visible, but the responsible appliance is not.</a:t>
            </a:r>
          </a:p>
        </p:txBody>
      </p:sp>
      <p:grpSp>
        <p:nvGrpSpPr>
          <p:cNvPr name="Group 13" id="13"/>
          <p:cNvGrpSpPr/>
          <p:nvPr/>
        </p:nvGrpSpPr>
        <p:grpSpPr>
          <a:xfrm rot="0">
            <a:off x="12072366" y="4042239"/>
            <a:ext cx="4818650" cy="1661503"/>
            <a:chOff x="0" y="0"/>
            <a:chExt cx="6424866" cy="2215337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6424803" cy="2215261"/>
            </a:xfrm>
            <a:custGeom>
              <a:avLst/>
              <a:gdLst/>
              <a:ahLst/>
              <a:cxnLst/>
              <a:rect r="r" b="b" t="t" l="l"/>
              <a:pathLst>
                <a:path h="2215261" w="6424803">
                  <a:moveTo>
                    <a:pt x="0" y="369189"/>
                  </a:moveTo>
                  <a:cubicBezTo>
                    <a:pt x="0" y="165354"/>
                    <a:pt x="165354" y="0"/>
                    <a:pt x="369189" y="0"/>
                  </a:cubicBezTo>
                  <a:lnTo>
                    <a:pt x="6055614" y="0"/>
                  </a:lnTo>
                  <a:cubicBezTo>
                    <a:pt x="6259576" y="0"/>
                    <a:pt x="6424803" y="165354"/>
                    <a:pt x="6424803" y="369189"/>
                  </a:cubicBezTo>
                  <a:lnTo>
                    <a:pt x="6424803" y="1846072"/>
                  </a:lnTo>
                  <a:cubicBezTo>
                    <a:pt x="6424803" y="2050034"/>
                    <a:pt x="6259449" y="2215261"/>
                    <a:pt x="6055614" y="2215261"/>
                  </a:cubicBezTo>
                  <a:lnTo>
                    <a:pt x="369189" y="2215261"/>
                  </a:lnTo>
                  <a:cubicBezTo>
                    <a:pt x="165354" y="2215388"/>
                    <a:pt x="0" y="2050034"/>
                    <a:pt x="0" y="1846072"/>
                  </a:cubicBezTo>
                  <a:close/>
                </a:path>
              </a:pathLst>
            </a:custGeom>
            <a:solidFill>
              <a:srgbClr val="F4F8F9"/>
            </a:solidFill>
            <a:ln w="14299" cap="sq">
              <a:solidFill>
                <a:srgbClr val="E1EBED"/>
              </a:solidFill>
              <a:prstDash val="solid"/>
              <a:miter/>
            </a:ln>
          </p:spPr>
        </p:sp>
      </p:grpSp>
      <p:grpSp>
        <p:nvGrpSpPr>
          <p:cNvPr name="Group 15" id="15"/>
          <p:cNvGrpSpPr/>
          <p:nvPr/>
        </p:nvGrpSpPr>
        <p:grpSpPr>
          <a:xfrm rot="0">
            <a:off x="12079519" y="4049382"/>
            <a:ext cx="96088" cy="1647206"/>
            <a:chOff x="0" y="0"/>
            <a:chExt cx="128118" cy="2196274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128143" cy="2196338"/>
            </a:xfrm>
            <a:custGeom>
              <a:avLst/>
              <a:gdLst/>
              <a:ahLst/>
              <a:cxnLst/>
              <a:rect r="r" b="b" t="t" l="l"/>
              <a:pathLst>
                <a:path h="2196338" w="128143">
                  <a:moveTo>
                    <a:pt x="0" y="0"/>
                  </a:moveTo>
                  <a:lnTo>
                    <a:pt x="128143" y="0"/>
                  </a:lnTo>
                  <a:lnTo>
                    <a:pt x="128143" y="2196338"/>
                  </a:lnTo>
                  <a:lnTo>
                    <a:pt x="0" y="2196338"/>
                  </a:lnTo>
                  <a:close/>
                </a:path>
              </a:pathLst>
            </a:custGeom>
            <a:solidFill>
              <a:srgbClr val="13968F"/>
            </a:solidFill>
          </p:spPr>
        </p:sp>
      </p:grpSp>
      <p:sp>
        <p:nvSpPr>
          <p:cNvPr name="TextBox 17" id="17"/>
          <p:cNvSpPr txBox="true"/>
          <p:nvPr/>
        </p:nvSpPr>
        <p:spPr>
          <a:xfrm rot="0">
            <a:off x="12514126" y="4369641"/>
            <a:ext cx="4072404" cy="3889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82"/>
              </a:lnSpc>
            </a:pPr>
            <a:r>
              <a:rPr lang="en-US" sz="2401" b="true">
                <a:solidFill>
                  <a:srgbClr val="0F1F2D"/>
                </a:solidFill>
                <a:latin typeface="Aptos Bold"/>
                <a:ea typeface="Aptos Bold"/>
                <a:cs typeface="Aptos Bold"/>
                <a:sym typeface="Aptos Bold"/>
              </a:rPr>
              <a:t>THE SOLUTION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2514126" y="5028524"/>
            <a:ext cx="4072404" cy="4576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51"/>
              </a:lnSpc>
            </a:pPr>
            <a:r>
              <a:rPr lang="en-US" sz="1876">
                <a:solidFill>
                  <a:srgbClr val="233038"/>
                </a:solidFill>
                <a:latin typeface="Aptos"/>
                <a:ea typeface="Aptos"/>
                <a:cs typeface="Aptos"/>
                <a:sym typeface="Aptos"/>
              </a:rPr>
              <a:t>Whole-house meter + NILM + analytics + dashboard.</a:t>
            </a:r>
          </a:p>
        </p:txBody>
      </p:sp>
      <p:grpSp>
        <p:nvGrpSpPr>
          <p:cNvPr name="Group 19" id="19"/>
          <p:cNvGrpSpPr/>
          <p:nvPr/>
        </p:nvGrpSpPr>
        <p:grpSpPr>
          <a:xfrm rot="0">
            <a:off x="12072366" y="6101239"/>
            <a:ext cx="4818650" cy="1661503"/>
            <a:chOff x="0" y="0"/>
            <a:chExt cx="6424866" cy="2215337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6424803" cy="2215261"/>
            </a:xfrm>
            <a:custGeom>
              <a:avLst/>
              <a:gdLst/>
              <a:ahLst/>
              <a:cxnLst/>
              <a:rect r="r" b="b" t="t" l="l"/>
              <a:pathLst>
                <a:path h="2215261" w="6424803">
                  <a:moveTo>
                    <a:pt x="0" y="369189"/>
                  </a:moveTo>
                  <a:cubicBezTo>
                    <a:pt x="0" y="165354"/>
                    <a:pt x="165354" y="0"/>
                    <a:pt x="369189" y="0"/>
                  </a:cubicBezTo>
                  <a:lnTo>
                    <a:pt x="6055614" y="0"/>
                  </a:lnTo>
                  <a:cubicBezTo>
                    <a:pt x="6259576" y="0"/>
                    <a:pt x="6424803" y="165354"/>
                    <a:pt x="6424803" y="369189"/>
                  </a:cubicBezTo>
                  <a:lnTo>
                    <a:pt x="6424803" y="1846072"/>
                  </a:lnTo>
                  <a:cubicBezTo>
                    <a:pt x="6424803" y="2050034"/>
                    <a:pt x="6259449" y="2215261"/>
                    <a:pt x="6055614" y="2215261"/>
                  </a:cubicBezTo>
                  <a:lnTo>
                    <a:pt x="369189" y="2215261"/>
                  </a:lnTo>
                  <a:cubicBezTo>
                    <a:pt x="165354" y="2215388"/>
                    <a:pt x="0" y="2050034"/>
                    <a:pt x="0" y="1846072"/>
                  </a:cubicBezTo>
                  <a:close/>
                </a:path>
              </a:pathLst>
            </a:custGeom>
            <a:solidFill>
              <a:srgbClr val="F4F8F9"/>
            </a:solidFill>
            <a:ln w="14299" cap="sq">
              <a:solidFill>
                <a:srgbClr val="E1EBED"/>
              </a:solidFill>
              <a:prstDash val="solid"/>
              <a:miter/>
            </a:ln>
          </p:spPr>
        </p:sp>
      </p:grpSp>
      <p:grpSp>
        <p:nvGrpSpPr>
          <p:cNvPr name="Group 21" id="21"/>
          <p:cNvGrpSpPr/>
          <p:nvPr/>
        </p:nvGrpSpPr>
        <p:grpSpPr>
          <a:xfrm rot="0">
            <a:off x="12079519" y="6108392"/>
            <a:ext cx="96088" cy="1647206"/>
            <a:chOff x="0" y="0"/>
            <a:chExt cx="128118" cy="2196274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128143" cy="2196338"/>
            </a:xfrm>
            <a:custGeom>
              <a:avLst/>
              <a:gdLst/>
              <a:ahLst/>
              <a:cxnLst/>
              <a:rect r="r" b="b" t="t" l="l"/>
              <a:pathLst>
                <a:path h="2196338" w="128143">
                  <a:moveTo>
                    <a:pt x="0" y="0"/>
                  </a:moveTo>
                  <a:lnTo>
                    <a:pt x="128143" y="0"/>
                  </a:lnTo>
                  <a:lnTo>
                    <a:pt x="128143" y="2196338"/>
                  </a:lnTo>
                  <a:lnTo>
                    <a:pt x="0" y="2196338"/>
                  </a:lnTo>
                  <a:close/>
                </a:path>
              </a:pathLst>
            </a:custGeom>
            <a:solidFill>
              <a:srgbClr val="F29A49"/>
            </a:solidFill>
          </p:spPr>
        </p:sp>
      </p:grpSp>
      <p:sp>
        <p:nvSpPr>
          <p:cNvPr name="TextBox 23" id="23"/>
          <p:cNvSpPr txBox="true"/>
          <p:nvPr/>
        </p:nvSpPr>
        <p:spPr>
          <a:xfrm rot="0">
            <a:off x="12514126" y="6428651"/>
            <a:ext cx="4072404" cy="3889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82"/>
              </a:lnSpc>
            </a:pPr>
            <a:r>
              <a:rPr lang="en-US" sz="2401" b="true">
                <a:solidFill>
                  <a:srgbClr val="0F1F2D"/>
                </a:solidFill>
                <a:latin typeface="Aptos Bold"/>
                <a:ea typeface="Aptos Bold"/>
                <a:cs typeface="Aptos Bold"/>
                <a:sym typeface="Aptos Bold"/>
              </a:rPr>
              <a:t>THE OUTCOME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12514126" y="7087533"/>
            <a:ext cx="4072404" cy="4576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51"/>
              </a:lnSpc>
            </a:pPr>
            <a:r>
              <a:rPr lang="en-US" sz="1876">
                <a:solidFill>
                  <a:srgbClr val="233038"/>
                </a:solidFill>
                <a:latin typeface="Aptos"/>
                <a:ea typeface="Aptos"/>
                <a:cs typeface="Aptos"/>
                <a:sym typeface="Aptos"/>
              </a:rPr>
              <a:t>Actionable alerts identify what caused excess use.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1079764" y="9173994"/>
            <a:ext cx="6680483" cy="3203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91"/>
              </a:lnSpc>
            </a:pPr>
            <a:r>
              <a:rPr lang="en-US" sz="1576">
                <a:solidFill>
                  <a:srgbClr val="A0B9C1"/>
                </a:solidFill>
                <a:latin typeface="Aptos"/>
                <a:ea typeface="Aptos"/>
                <a:cs typeface="Aptos"/>
                <a:sym typeface="Aptos"/>
              </a:rPr>
              <a:t>Based on the supplied technical report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301840" cy="10295039"/>
            <a:chOff x="0" y="0"/>
            <a:chExt cx="24402453" cy="1372671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402414" cy="13726668"/>
            </a:xfrm>
            <a:custGeom>
              <a:avLst/>
              <a:gdLst/>
              <a:ahLst/>
              <a:cxnLst/>
              <a:rect r="r" b="b" t="t" l="l"/>
              <a:pathLst>
                <a:path h="13726668" w="24402414">
                  <a:moveTo>
                    <a:pt x="0" y="0"/>
                  </a:moveTo>
                  <a:lnTo>
                    <a:pt x="24402414" y="0"/>
                  </a:lnTo>
                  <a:lnTo>
                    <a:pt x="24402414" y="13726668"/>
                  </a:lnTo>
                  <a:lnTo>
                    <a:pt x="0" y="13726668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sp>
        <p:nvSpPr>
          <p:cNvPr name="TextBox 4" id="4"/>
          <p:cNvSpPr txBox="true"/>
          <p:nvPr/>
        </p:nvSpPr>
        <p:spPr>
          <a:xfrm rot="0">
            <a:off x="983675" y="663426"/>
            <a:ext cx="16289188" cy="6635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043"/>
              </a:lnSpc>
            </a:pPr>
            <a:r>
              <a:rPr lang="en-US" sz="4203" b="true">
                <a:solidFill>
                  <a:srgbClr val="0F1F2D"/>
                </a:solidFill>
                <a:latin typeface="Aptos Bold"/>
                <a:ea typeface="Aptos Bold"/>
                <a:cs typeface="Aptos Bold"/>
                <a:sym typeface="Aptos Bold"/>
              </a:rPr>
              <a:t>The Problem → Our Solution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024861" y="1487024"/>
            <a:ext cx="16014659" cy="4576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51"/>
              </a:lnSpc>
            </a:pPr>
            <a:r>
              <a:rPr lang="en-US" sz="1876">
                <a:solidFill>
                  <a:srgbClr val="66757D"/>
                </a:solidFill>
                <a:latin typeface="Aptos"/>
                <a:ea typeface="Aptos"/>
                <a:cs typeface="Aptos"/>
                <a:sym typeface="Aptos"/>
              </a:rPr>
              <a:t>Why appliance-level visibility is needed</a:t>
            </a:r>
          </a:p>
        </p:txBody>
      </p:sp>
      <p:grpSp>
        <p:nvGrpSpPr>
          <p:cNvPr name="Group 6" id="6"/>
          <p:cNvGrpSpPr/>
          <p:nvPr/>
        </p:nvGrpSpPr>
        <p:grpSpPr>
          <a:xfrm rot="0">
            <a:off x="953719" y="2189131"/>
            <a:ext cx="5093189" cy="6465856"/>
            <a:chOff x="0" y="0"/>
            <a:chExt cx="6790919" cy="8621141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6790944" cy="8621141"/>
            </a:xfrm>
            <a:custGeom>
              <a:avLst/>
              <a:gdLst/>
              <a:ahLst/>
              <a:cxnLst/>
              <a:rect r="r" b="b" t="t" l="l"/>
              <a:pathLst>
                <a:path h="8621141" w="6790944">
                  <a:moveTo>
                    <a:pt x="0" y="1131824"/>
                  </a:moveTo>
                  <a:cubicBezTo>
                    <a:pt x="0" y="506730"/>
                    <a:pt x="506730" y="0"/>
                    <a:pt x="1131824" y="0"/>
                  </a:cubicBezTo>
                  <a:lnTo>
                    <a:pt x="5659120" y="0"/>
                  </a:lnTo>
                  <a:cubicBezTo>
                    <a:pt x="6284214" y="0"/>
                    <a:pt x="6790944" y="506730"/>
                    <a:pt x="6790944" y="1131824"/>
                  </a:cubicBezTo>
                  <a:lnTo>
                    <a:pt x="6790944" y="7489317"/>
                  </a:lnTo>
                  <a:cubicBezTo>
                    <a:pt x="6790944" y="8114412"/>
                    <a:pt x="6284214" y="8621141"/>
                    <a:pt x="5659120" y="8621141"/>
                  </a:cubicBezTo>
                  <a:lnTo>
                    <a:pt x="1131824" y="8621141"/>
                  </a:lnTo>
                  <a:cubicBezTo>
                    <a:pt x="506730" y="8621141"/>
                    <a:pt x="0" y="8114411"/>
                    <a:pt x="0" y="7489317"/>
                  </a:cubicBezTo>
                  <a:close/>
                </a:path>
              </a:pathLst>
            </a:custGeom>
            <a:solidFill>
              <a:srgbClr val="F4F8F9"/>
            </a:solidFill>
            <a:ln w="14299" cap="sq">
              <a:solidFill>
                <a:srgbClr val="E1EBED"/>
              </a:solidFill>
              <a:prstDash val="solid"/>
              <a:miter/>
            </a:ln>
          </p:spPr>
        </p:sp>
      </p:grpSp>
      <p:grpSp>
        <p:nvGrpSpPr>
          <p:cNvPr name="Group 8" id="8"/>
          <p:cNvGrpSpPr/>
          <p:nvPr/>
        </p:nvGrpSpPr>
        <p:grpSpPr>
          <a:xfrm rot="0">
            <a:off x="960872" y="2196274"/>
            <a:ext cx="96088" cy="6451559"/>
            <a:chOff x="0" y="0"/>
            <a:chExt cx="128118" cy="8602078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28143" cy="8602091"/>
            </a:xfrm>
            <a:custGeom>
              <a:avLst/>
              <a:gdLst/>
              <a:ahLst/>
              <a:cxnLst/>
              <a:rect r="r" b="b" t="t" l="l"/>
              <a:pathLst>
                <a:path h="8602091" w="128143">
                  <a:moveTo>
                    <a:pt x="0" y="0"/>
                  </a:moveTo>
                  <a:lnTo>
                    <a:pt x="128143" y="0"/>
                  </a:lnTo>
                  <a:lnTo>
                    <a:pt x="128143" y="8602091"/>
                  </a:lnTo>
                  <a:lnTo>
                    <a:pt x="0" y="8602091"/>
                  </a:lnTo>
                  <a:close/>
                </a:path>
              </a:pathLst>
            </a:custGeom>
            <a:solidFill>
              <a:srgbClr val="D54E4E"/>
            </a:solidFill>
          </p:spPr>
        </p:sp>
      </p:grpSp>
      <p:sp>
        <p:nvSpPr>
          <p:cNvPr name="TextBox 10" id="10"/>
          <p:cNvSpPr txBox="true"/>
          <p:nvPr/>
        </p:nvSpPr>
        <p:spPr>
          <a:xfrm rot="0">
            <a:off x="1395479" y="2516534"/>
            <a:ext cx="4346943" cy="3889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82"/>
              </a:lnSpc>
            </a:pPr>
            <a:r>
              <a:rPr lang="en-US" sz="2401" b="true">
                <a:solidFill>
                  <a:srgbClr val="0F1F2D"/>
                </a:solidFill>
                <a:latin typeface="Aptos Bold"/>
                <a:ea typeface="Aptos Bold"/>
                <a:cs typeface="Aptos Bold"/>
                <a:sym typeface="Aptos Bold"/>
              </a:rPr>
              <a:t>PROBLEM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395479" y="3175416"/>
            <a:ext cx="4346943" cy="52619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51"/>
              </a:lnSpc>
            </a:pPr>
            <a:r>
              <a:rPr lang="en-US" sz="1876">
                <a:solidFill>
                  <a:srgbClr val="233038"/>
                </a:solidFill>
                <a:latin typeface="Aptos"/>
                <a:ea typeface="Aptos"/>
                <a:cs typeface="Aptos"/>
                <a:sym typeface="Aptos"/>
              </a:rPr>
              <a:t>A conventional meter shows total household electricity use.</a:t>
            </a:r>
          </a:p>
          <a:p>
            <a:pPr algn="l">
              <a:lnSpc>
                <a:spcPts val="2251"/>
              </a:lnSpc>
            </a:pPr>
          </a:p>
          <a:p>
            <a:pPr algn="l">
              <a:lnSpc>
                <a:spcPts val="2251"/>
              </a:lnSpc>
            </a:pPr>
            <a:r>
              <a:rPr lang="en-US" sz="1876">
                <a:solidFill>
                  <a:srgbClr val="233038"/>
                </a:solidFill>
                <a:latin typeface="Aptos"/>
                <a:ea typeface="Aptos"/>
                <a:cs typeface="Aptos"/>
                <a:sym typeface="Aptos"/>
              </a:rPr>
              <a:t>If consumption rises from 250 kWh to 330 kWh, the user may not know whether the AC, refrigerator, fans, lights or another appliance caused the increase.</a:t>
            </a:r>
          </a:p>
        </p:txBody>
      </p:sp>
      <p:grpSp>
        <p:nvGrpSpPr>
          <p:cNvPr name="Group 12" id="12"/>
          <p:cNvGrpSpPr/>
          <p:nvPr/>
        </p:nvGrpSpPr>
        <p:grpSpPr>
          <a:xfrm rot="0">
            <a:off x="6609131" y="2189131"/>
            <a:ext cx="5093189" cy="6465856"/>
            <a:chOff x="0" y="0"/>
            <a:chExt cx="6790919" cy="8621141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6790944" cy="8621141"/>
            </a:xfrm>
            <a:custGeom>
              <a:avLst/>
              <a:gdLst/>
              <a:ahLst/>
              <a:cxnLst/>
              <a:rect r="r" b="b" t="t" l="l"/>
              <a:pathLst>
                <a:path h="8621141" w="6790944">
                  <a:moveTo>
                    <a:pt x="0" y="1131824"/>
                  </a:moveTo>
                  <a:cubicBezTo>
                    <a:pt x="0" y="506730"/>
                    <a:pt x="506730" y="0"/>
                    <a:pt x="1131824" y="0"/>
                  </a:cubicBezTo>
                  <a:lnTo>
                    <a:pt x="5659120" y="0"/>
                  </a:lnTo>
                  <a:cubicBezTo>
                    <a:pt x="6284214" y="0"/>
                    <a:pt x="6790944" y="506730"/>
                    <a:pt x="6790944" y="1131824"/>
                  </a:cubicBezTo>
                  <a:lnTo>
                    <a:pt x="6790944" y="7489317"/>
                  </a:lnTo>
                  <a:cubicBezTo>
                    <a:pt x="6790944" y="8114412"/>
                    <a:pt x="6284214" y="8621141"/>
                    <a:pt x="5659120" y="8621141"/>
                  </a:cubicBezTo>
                  <a:lnTo>
                    <a:pt x="1131824" y="8621141"/>
                  </a:lnTo>
                  <a:cubicBezTo>
                    <a:pt x="506730" y="8621141"/>
                    <a:pt x="0" y="8114411"/>
                    <a:pt x="0" y="7489317"/>
                  </a:cubicBezTo>
                  <a:close/>
                </a:path>
              </a:pathLst>
            </a:custGeom>
            <a:solidFill>
              <a:srgbClr val="F4F8F9"/>
            </a:solidFill>
            <a:ln w="14299" cap="sq">
              <a:solidFill>
                <a:srgbClr val="E1EBED"/>
              </a:solidFill>
              <a:prstDash val="solid"/>
              <a:miter/>
            </a:ln>
          </p:spPr>
        </p:sp>
      </p:grpSp>
      <p:grpSp>
        <p:nvGrpSpPr>
          <p:cNvPr name="Group 14" id="14"/>
          <p:cNvGrpSpPr/>
          <p:nvPr/>
        </p:nvGrpSpPr>
        <p:grpSpPr>
          <a:xfrm rot="0">
            <a:off x="6616284" y="2196274"/>
            <a:ext cx="96088" cy="6451559"/>
            <a:chOff x="0" y="0"/>
            <a:chExt cx="128118" cy="8602078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28143" cy="8602091"/>
            </a:xfrm>
            <a:custGeom>
              <a:avLst/>
              <a:gdLst/>
              <a:ahLst/>
              <a:cxnLst/>
              <a:rect r="r" b="b" t="t" l="l"/>
              <a:pathLst>
                <a:path h="8602091" w="128143">
                  <a:moveTo>
                    <a:pt x="0" y="0"/>
                  </a:moveTo>
                  <a:lnTo>
                    <a:pt x="128143" y="0"/>
                  </a:lnTo>
                  <a:lnTo>
                    <a:pt x="128143" y="8602091"/>
                  </a:lnTo>
                  <a:lnTo>
                    <a:pt x="0" y="8602091"/>
                  </a:lnTo>
                  <a:close/>
                </a:path>
              </a:pathLst>
            </a:custGeom>
            <a:solidFill>
              <a:srgbClr val="13968F"/>
            </a:solidFill>
          </p:spPr>
        </p:sp>
      </p:grpSp>
      <p:sp>
        <p:nvSpPr>
          <p:cNvPr name="TextBox 16" id="16"/>
          <p:cNvSpPr txBox="true"/>
          <p:nvPr/>
        </p:nvSpPr>
        <p:spPr>
          <a:xfrm rot="0">
            <a:off x="7050891" y="2516534"/>
            <a:ext cx="4346943" cy="3889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82"/>
              </a:lnSpc>
            </a:pPr>
            <a:r>
              <a:rPr lang="en-US" sz="2401" b="true">
                <a:solidFill>
                  <a:srgbClr val="0F1F2D"/>
                </a:solidFill>
                <a:latin typeface="Aptos Bold"/>
                <a:ea typeface="Aptos Bold"/>
                <a:cs typeface="Aptos Bold"/>
                <a:sym typeface="Aptos Bold"/>
              </a:rPr>
              <a:t>PROPOSED SOLUTION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7050891" y="3175416"/>
            <a:ext cx="4346943" cy="52619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51"/>
              </a:lnSpc>
            </a:pPr>
            <a:r>
              <a:rPr lang="en-US" sz="1876">
                <a:solidFill>
                  <a:srgbClr val="233038"/>
                </a:solidFill>
                <a:latin typeface="Aptos"/>
                <a:ea typeface="Aptos"/>
                <a:cs typeface="Aptos"/>
                <a:sym typeface="Aptos"/>
              </a:rPr>
              <a:t>Use a whole-house smart energy meter and Non-Intrusive Load Monitoring (NILM) to estimate individual appliance consumption without installing a separate monitor on every appliance.</a:t>
            </a:r>
          </a:p>
        </p:txBody>
      </p:sp>
      <p:grpSp>
        <p:nvGrpSpPr>
          <p:cNvPr name="Group 18" id="18"/>
          <p:cNvGrpSpPr/>
          <p:nvPr/>
        </p:nvGrpSpPr>
        <p:grpSpPr>
          <a:xfrm rot="0">
            <a:off x="12264542" y="2189131"/>
            <a:ext cx="5093189" cy="6465856"/>
            <a:chOff x="0" y="0"/>
            <a:chExt cx="6790919" cy="8621141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6790944" cy="8621141"/>
            </a:xfrm>
            <a:custGeom>
              <a:avLst/>
              <a:gdLst/>
              <a:ahLst/>
              <a:cxnLst/>
              <a:rect r="r" b="b" t="t" l="l"/>
              <a:pathLst>
                <a:path h="8621141" w="6790944">
                  <a:moveTo>
                    <a:pt x="0" y="1131824"/>
                  </a:moveTo>
                  <a:cubicBezTo>
                    <a:pt x="0" y="506730"/>
                    <a:pt x="506730" y="0"/>
                    <a:pt x="1131824" y="0"/>
                  </a:cubicBezTo>
                  <a:lnTo>
                    <a:pt x="5659120" y="0"/>
                  </a:lnTo>
                  <a:cubicBezTo>
                    <a:pt x="6284214" y="0"/>
                    <a:pt x="6790944" y="506730"/>
                    <a:pt x="6790944" y="1131824"/>
                  </a:cubicBezTo>
                  <a:lnTo>
                    <a:pt x="6790944" y="7489317"/>
                  </a:lnTo>
                  <a:cubicBezTo>
                    <a:pt x="6790944" y="8114412"/>
                    <a:pt x="6284214" y="8621141"/>
                    <a:pt x="5659120" y="8621141"/>
                  </a:cubicBezTo>
                  <a:lnTo>
                    <a:pt x="1131824" y="8621141"/>
                  </a:lnTo>
                  <a:cubicBezTo>
                    <a:pt x="506730" y="8621141"/>
                    <a:pt x="0" y="8114411"/>
                    <a:pt x="0" y="7489317"/>
                  </a:cubicBezTo>
                  <a:close/>
                </a:path>
              </a:pathLst>
            </a:custGeom>
            <a:solidFill>
              <a:srgbClr val="F4F8F9"/>
            </a:solidFill>
            <a:ln w="14299" cap="sq">
              <a:solidFill>
                <a:srgbClr val="E1EBED"/>
              </a:solidFill>
              <a:prstDash val="solid"/>
              <a:miter/>
            </a:ln>
          </p:spPr>
        </p:sp>
      </p:grpSp>
      <p:grpSp>
        <p:nvGrpSpPr>
          <p:cNvPr name="Group 20" id="20"/>
          <p:cNvGrpSpPr/>
          <p:nvPr/>
        </p:nvGrpSpPr>
        <p:grpSpPr>
          <a:xfrm rot="0">
            <a:off x="12271696" y="2196274"/>
            <a:ext cx="96088" cy="6451559"/>
            <a:chOff x="0" y="0"/>
            <a:chExt cx="128118" cy="8602078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128143" cy="8602091"/>
            </a:xfrm>
            <a:custGeom>
              <a:avLst/>
              <a:gdLst/>
              <a:ahLst/>
              <a:cxnLst/>
              <a:rect r="r" b="b" t="t" l="l"/>
              <a:pathLst>
                <a:path h="8602091" w="128143">
                  <a:moveTo>
                    <a:pt x="0" y="0"/>
                  </a:moveTo>
                  <a:lnTo>
                    <a:pt x="128143" y="0"/>
                  </a:lnTo>
                  <a:lnTo>
                    <a:pt x="128143" y="8602091"/>
                  </a:lnTo>
                  <a:lnTo>
                    <a:pt x="0" y="8602091"/>
                  </a:lnTo>
                  <a:close/>
                </a:path>
              </a:pathLst>
            </a:custGeom>
            <a:solidFill>
              <a:srgbClr val="F29A49"/>
            </a:solidFill>
          </p:spPr>
        </p:sp>
      </p:grpSp>
      <p:sp>
        <p:nvSpPr>
          <p:cNvPr name="TextBox 22" id="22"/>
          <p:cNvSpPr txBox="true"/>
          <p:nvPr/>
        </p:nvSpPr>
        <p:spPr>
          <a:xfrm rot="0">
            <a:off x="12706302" y="2516534"/>
            <a:ext cx="4346943" cy="3889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82"/>
              </a:lnSpc>
            </a:pPr>
            <a:r>
              <a:rPr lang="en-US" sz="2401" b="true">
                <a:solidFill>
                  <a:srgbClr val="0F1F2D"/>
                </a:solidFill>
                <a:latin typeface="Aptos Bold"/>
                <a:ea typeface="Aptos Bold"/>
                <a:cs typeface="Aptos Bold"/>
                <a:sym typeface="Aptos Bold"/>
              </a:rPr>
              <a:t>WEBSITE OUTPUT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12706302" y="3175416"/>
            <a:ext cx="4346943" cy="52619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51"/>
              </a:lnSpc>
            </a:pPr>
            <a:r>
              <a:rPr lang="en-US" sz="1876">
                <a:solidFill>
                  <a:srgbClr val="233038"/>
                </a:solidFill>
                <a:latin typeface="Aptos"/>
                <a:ea typeface="Aptos"/>
                <a:cs typeface="Aptos"/>
                <a:sym typeface="Aptos"/>
              </a:rPr>
              <a:t>A centralized dashboard shows:</a:t>
            </a:r>
          </a:p>
          <a:p>
            <a:pPr algn="l">
              <a:lnSpc>
                <a:spcPts val="2251"/>
              </a:lnSpc>
            </a:pPr>
            <a:r>
              <a:rPr lang="en-US" sz="1876">
                <a:solidFill>
                  <a:srgbClr val="233038"/>
                </a:solidFill>
                <a:latin typeface="Aptos"/>
                <a:ea typeface="Aptos"/>
                <a:cs typeface="Aptos"/>
                <a:sym typeface="Aptos"/>
              </a:rPr>
              <a:t>• appliance-wise usage</a:t>
            </a:r>
          </a:p>
          <a:p>
            <a:pPr algn="l">
              <a:lnSpc>
                <a:spcPts val="2251"/>
              </a:lnSpc>
            </a:pPr>
            <a:r>
              <a:rPr lang="en-US" sz="1876">
                <a:solidFill>
                  <a:srgbClr val="233038"/>
                </a:solidFill>
                <a:latin typeface="Aptos"/>
                <a:ea typeface="Aptos"/>
                <a:cs typeface="Aptos"/>
                <a:sym typeface="Aptos"/>
              </a:rPr>
              <a:t>• daily/monthly comparisons</a:t>
            </a:r>
          </a:p>
          <a:p>
            <a:pPr algn="l">
              <a:lnSpc>
                <a:spcPts val="2251"/>
              </a:lnSpc>
            </a:pPr>
            <a:r>
              <a:rPr lang="en-US" sz="1876">
                <a:solidFill>
                  <a:srgbClr val="233038"/>
                </a:solidFill>
                <a:latin typeface="Aptos"/>
                <a:ea typeface="Aptos"/>
                <a:cs typeface="Aptos"/>
                <a:sym typeface="Aptos"/>
              </a:rPr>
              <a:t>• historical trends</a:t>
            </a:r>
          </a:p>
          <a:p>
            <a:pPr algn="l">
              <a:lnSpc>
                <a:spcPts val="2251"/>
              </a:lnSpc>
            </a:pPr>
            <a:r>
              <a:rPr lang="en-US" sz="1876">
                <a:solidFill>
                  <a:srgbClr val="233038"/>
                </a:solidFill>
                <a:latin typeface="Aptos"/>
                <a:ea typeface="Aptos"/>
                <a:cs typeface="Aptos"/>
                <a:sym typeface="Aptos"/>
              </a:rPr>
              <a:t>• 14-day abnormal-consumption alerts</a:t>
            </a:r>
          </a:p>
          <a:p>
            <a:pPr algn="l">
              <a:lnSpc>
                <a:spcPts val="2251"/>
              </a:lnSpc>
            </a:pPr>
            <a:r>
              <a:rPr lang="en-US" sz="1876">
                <a:solidFill>
                  <a:srgbClr val="233038"/>
                </a:solidFill>
                <a:latin typeface="Aptos"/>
                <a:ea typeface="Aptos"/>
                <a:cs typeface="Aptos"/>
                <a:sym typeface="Aptos"/>
              </a:rPr>
              <a:t>• main contributing appliance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301840" cy="10295039"/>
            <a:chOff x="0" y="0"/>
            <a:chExt cx="24402453" cy="1372671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402414" cy="13726668"/>
            </a:xfrm>
            <a:custGeom>
              <a:avLst/>
              <a:gdLst/>
              <a:ahLst/>
              <a:cxnLst/>
              <a:rect r="r" b="b" t="t" l="l"/>
              <a:pathLst>
                <a:path h="13726668" w="24402414">
                  <a:moveTo>
                    <a:pt x="0" y="0"/>
                  </a:moveTo>
                  <a:lnTo>
                    <a:pt x="24402414" y="0"/>
                  </a:lnTo>
                  <a:lnTo>
                    <a:pt x="24402414" y="13726668"/>
                  </a:lnTo>
                  <a:lnTo>
                    <a:pt x="0" y="13726668"/>
                  </a:lnTo>
                  <a:close/>
                </a:path>
              </a:pathLst>
            </a:custGeom>
            <a:solidFill>
              <a:srgbClr val="F4F8F9"/>
            </a:solidFill>
          </p:spPr>
        </p:sp>
      </p:grpSp>
      <p:sp>
        <p:nvSpPr>
          <p:cNvPr name="TextBox 4" id="4"/>
          <p:cNvSpPr txBox="true"/>
          <p:nvPr/>
        </p:nvSpPr>
        <p:spPr>
          <a:xfrm rot="0">
            <a:off x="983675" y="663426"/>
            <a:ext cx="16289188" cy="6635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043"/>
              </a:lnSpc>
            </a:pPr>
            <a:r>
              <a:rPr lang="en-US" sz="4203" b="true">
                <a:solidFill>
                  <a:srgbClr val="0F1F2D"/>
                </a:solidFill>
                <a:latin typeface="Aptos Bold"/>
                <a:ea typeface="Aptos Bold"/>
                <a:cs typeface="Aptos Bold"/>
                <a:sym typeface="Aptos Bold"/>
              </a:rPr>
              <a:t>How the Solution Works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024861" y="1487024"/>
            <a:ext cx="16014659" cy="4576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51"/>
              </a:lnSpc>
            </a:pPr>
            <a:r>
              <a:rPr lang="en-US" sz="1876">
                <a:solidFill>
                  <a:srgbClr val="66757D"/>
                </a:solidFill>
                <a:latin typeface="Aptos"/>
                <a:ea typeface="Aptos"/>
                <a:cs typeface="Aptos"/>
                <a:sym typeface="Aptos"/>
              </a:rPr>
              <a:t>The complete data flow from electricity measurement to user action</a:t>
            </a:r>
          </a:p>
        </p:txBody>
      </p:sp>
      <p:grpSp>
        <p:nvGrpSpPr>
          <p:cNvPr name="Group 6" id="6"/>
          <p:cNvGrpSpPr/>
          <p:nvPr/>
        </p:nvGrpSpPr>
        <p:grpSpPr>
          <a:xfrm rot="0">
            <a:off x="1578569" y="2745343"/>
            <a:ext cx="960872" cy="960872"/>
            <a:chOff x="0" y="0"/>
            <a:chExt cx="1281163" cy="1281163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281176" cy="1281176"/>
            </a:xfrm>
            <a:custGeom>
              <a:avLst/>
              <a:gdLst/>
              <a:ahLst/>
              <a:cxnLst/>
              <a:rect r="r" b="b" t="t" l="l"/>
              <a:pathLst>
                <a:path h="1281176" w="1281176">
                  <a:moveTo>
                    <a:pt x="0" y="640588"/>
                  </a:moveTo>
                  <a:cubicBezTo>
                    <a:pt x="0" y="286766"/>
                    <a:pt x="286766" y="0"/>
                    <a:pt x="640588" y="0"/>
                  </a:cubicBezTo>
                  <a:cubicBezTo>
                    <a:pt x="994410" y="0"/>
                    <a:pt x="1281176" y="286766"/>
                    <a:pt x="1281176" y="640588"/>
                  </a:cubicBezTo>
                  <a:cubicBezTo>
                    <a:pt x="1281176" y="994410"/>
                    <a:pt x="994410" y="1281176"/>
                    <a:pt x="640588" y="1281176"/>
                  </a:cubicBezTo>
                  <a:cubicBezTo>
                    <a:pt x="286766" y="1281176"/>
                    <a:pt x="0" y="994410"/>
                    <a:pt x="0" y="640588"/>
                  </a:cubicBezTo>
                  <a:close/>
                </a:path>
              </a:pathLst>
            </a:custGeom>
            <a:solidFill>
              <a:srgbClr val="13968F"/>
            </a:solidFill>
          </p:spPr>
        </p:sp>
      </p:grpSp>
      <p:sp>
        <p:nvSpPr>
          <p:cNvPr name="TextBox 8" id="8"/>
          <p:cNvSpPr txBox="true"/>
          <p:nvPr/>
        </p:nvSpPr>
        <p:spPr>
          <a:xfrm rot="0">
            <a:off x="1670009" y="3010691"/>
            <a:ext cx="777992" cy="2517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41"/>
              </a:lnSpc>
            </a:pPr>
            <a:r>
              <a:rPr lang="en-US" sz="1951" b="true">
                <a:solidFill>
                  <a:srgbClr val="FFFFFF"/>
                </a:solidFill>
                <a:latin typeface="Aptos Bold"/>
                <a:ea typeface="Aptos Bold"/>
                <a:cs typeface="Aptos Bold"/>
                <a:sym typeface="Aptos Bold"/>
              </a:rPr>
              <a:t>1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709146" y="4095102"/>
            <a:ext cx="2631100" cy="8694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41"/>
              </a:lnSpc>
            </a:pPr>
            <a:r>
              <a:rPr lang="en-US" sz="1951" b="true">
                <a:solidFill>
                  <a:srgbClr val="0F1F2D"/>
                </a:solidFill>
                <a:latin typeface="Aptos Bold"/>
                <a:ea typeface="Aptos Bold"/>
                <a:cs typeface="Aptos Bold"/>
                <a:sym typeface="Aptos Bold"/>
              </a:rPr>
              <a:t>Household</a:t>
            </a:r>
          </a:p>
          <a:p>
            <a:pPr algn="ctr">
              <a:lnSpc>
                <a:spcPts val="2341"/>
              </a:lnSpc>
            </a:pPr>
            <a:r>
              <a:rPr lang="en-US" sz="1951" b="true">
                <a:solidFill>
                  <a:srgbClr val="0F1F2D"/>
                </a:solidFill>
                <a:latin typeface="Aptos Bold"/>
                <a:ea typeface="Aptos Bold"/>
                <a:cs typeface="Aptos Bold"/>
                <a:sym typeface="Aptos Bold"/>
              </a:rPr>
              <a:t>Appliances</a:t>
            </a:r>
          </a:p>
        </p:txBody>
      </p:sp>
      <p:sp>
        <p:nvSpPr>
          <p:cNvPr name="AutoShape 10" id="10"/>
          <p:cNvSpPr/>
          <p:nvPr/>
        </p:nvSpPr>
        <p:spPr>
          <a:xfrm rot="125940">
            <a:off x="2520029" y="3216259"/>
            <a:ext cx="1040882" cy="0"/>
          </a:xfrm>
          <a:prstGeom prst="line">
            <a:avLst/>
          </a:prstGeom>
          <a:ln cap="rnd" w="19050">
            <a:solidFill>
              <a:srgbClr val="66757D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11" id="11"/>
          <p:cNvGrpSpPr/>
          <p:nvPr/>
        </p:nvGrpSpPr>
        <p:grpSpPr>
          <a:xfrm rot="0">
            <a:off x="4502363" y="2745343"/>
            <a:ext cx="960872" cy="960872"/>
            <a:chOff x="0" y="0"/>
            <a:chExt cx="1281163" cy="1281163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281176" cy="1281176"/>
            </a:xfrm>
            <a:custGeom>
              <a:avLst/>
              <a:gdLst/>
              <a:ahLst/>
              <a:cxnLst/>
              <a:rect r="r" b="b" t="t" l="l"/>
              <a:pathLst>
                <a:path h="1281176" w="1281176">
                  <a:moveTo>
                    <a:pt x="0" y="640588"/>
                  </a:moveTo>
                  <a:cubicBezTo>
                    <a:pt x="0" y="286766"/>
                    <a:pt x="286766" y="0"/>
                    <a:pt x="640588" y="0"/>
                  </a:cubicBezTo>
                  <a:cubicBezTo>
                    <a:pt x="994410" y="0"/>
                    <a:pt x="1281176" y="286766"/>
                    <a:pt x="1281176" y="640588"/>
                  </a:cubicBezTo>
                  <a:cubicBezTo>
                    <a:pt x="1281176" y="994410"/>
                    <a:pt x="994410" y="1281176"/>
                    <a:pt x="640588" y="1281176"/>
                  </a:cubicBezTo>
                  <a:cubicBezTo>
                    <a:pt x="286766" y="1281176"/>
                    <a:pt x="0" y="994410"/>
                    <a:pt x="0" y="640588"/>
                  </a:cubicBezTo>
                  <a:close/>
                </a:path>
              </a:pathLst>
            </a:custGeom>
            <a:solidFill>
              <a:srgbClr val="13968F"/>
            </a:solidFill>
          </p:spPr>
        </p:sp>
      </p:grpSp>
      <p:sp>
        <p:nvSpPr>
          <p:cNvPr name="TextBox 13" id="13"/>
          <p:cNvSpPr txBox="true"/>
          <p:nvPr/>
        </p:nvSpPr>
        <p:spPr>
          <a:xfrm rot="0">
            <a:off x="4593803" y="3010691"/>
            <a:ext cx="777992" cy="2517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41"/>
              </a:lnSpc>
            </a:pPr>
            <a:r>
              <a:rPr lang="en-US" sz="1951" b="true">
                <a:solidFill>
                  <a:srgbClr val="FFFFFF"/>
                </a:solidFill>
                <a:latin typeface="Aptos Bold"/>
                <a:ea typeface="Aptos Bold"/>
                <a:cs typeface="Aptos Bold"/>
                <a:sym typeface="Aptos Bold"/>
              </a:rPr>
              <a:t>2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3632930" y="4095102"/>
            <a:ext cx="2631100" cy="8694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41"/>
              </a:lnSpc>
            </a:pPr>
            <a:r>
              <a:rPr lang="en-US" sz="1951" b="true">
                <a:solidFill>
                  <a:srgbClr val="0F1F2D"/>
                </a:solidFill>
                <a:latin typeface="Aptos Bold"/>
                <a:ea typeface="Aptos Bold"/>
                <a:cs typeface="Aptos Bold"/>
                <a:sym typeface="Aptos Bold"/>
              </a:rPr>
              <a:t>Whole-house</a:t>
            </a:r>
          </a:p>
          <a:p>
            <a:pPr algn="ctr">
              <a:lnSpc>
                <a:spcPts val="2341"/>
              </a:lnSpc>
            </a:pPr>
            <a:r>
              <a:rPr lang="en-US" sz="1951" b="true">
                <a:solidFill>
                  <a:srgbClr val="0F1F2D"/>
                </a:solidFill>
                <a:latin typeface="Aptos Bold"/>
                <a:ea typeface="Aptos Bold"/>
                <a:cs typeface="Aptos Bold"/>
                <a:sym typeface="Aptos Bold"/>
              </a:rPr>
              <a:t>Smart Meter</a:t>
            </a:r>
          </a:p>
        </p:txBody>
      </p:sp>
      <p:sp>
        <p:nvSpPr>
          <p:cNvPr name="AutoShape 15" id="15"/>
          <p:cNvSpPr/>
          <p:nvPr/>
        </p:nvSpPr>
        <p:spPr>
          <a:xfrm rot="125940">
            <a:off x="5443823" y="3216259"/>
            <a:ext cx="1040882" cy="0"/>
          </a:xfrm>
          <a:prstGeom prst="line">
            <a:avLst/>
          </a:prstGeom>
          <a:ln cap="rnd" w="19050">
            <a:solidFill>
              <a:srgbClr val="66757D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16" id="16"/>
          <p:cNvGrpSpPr/>
          <p:nvPr/>
        </p:nvGrpSpPr>
        <p:grpSpPr>
          <a:xfrm rot="0">
            <a:off x="7426157" y="2745343"/>
            <a:ext cx="960872" cy="960872"/>
            <a:chOff x="0" y="0"/>
            <a:chExt cx="1281163" cy="1281163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1281176" cy="1281176"/>
            </a:xfrm>
            <a:custGeom>
              <a:avLst/>
              <a:gdLst/>
              <a:ahLst/>
              <a:cxnLst/>
              <a:rect r="r" b="b" t="t" l="l"/>
              <a:pathLst>
                <a:path h="1281176" w="1281176">
                  <a:moveTo>
                    <a:pt x="0" y="640588"/>
                  </a:moveTo>
                  <a:cubicBezTo>
                    <a:pt x="0" y="286766"/>
                    <a:pt x="286766" y="0"/>
                    <a:pt x="640588" y="0"/>
                  </a:cubicBezTo>
                  <a:cubicBezTo>
                    <a:pt x="994410" y="0"/>
                    <a:pt x="1281176" y="286766"/>
                    <a:pt x="1281176" y="640588"/>
                  </a:cubicBezTo>
                  <a:cubicBezTo>
                    <a:pt x="1281176" y="994410"/>
                    <a:pt x="994410" y="1281176"/>
                    <a:pt x="640588" y="1281176"/>
                  </a:cubicBezTo>
                  <a:cubicBezTo>
                    <a:pt x="286766" y="1281176"/>
                    <a:pt x="0" y="994410"/>
                    <a:pt x="0" y="640588"/>
                  </a:cubicBezTo>
                  <a:close/>
                </a:path>
              </a:pathLst>
            </a:custGeom>
            <a:solidFill>
              <a:srgbClr val="13968F"/>
            </a:solidFill>
          </p:spPr>
        </p:sp>
      </p:grpSp>
      <p:sp>
        <p:nvSpPr>
          <p:cNvPr name="TextBox 18" id="18"/>
          <p:cNvSpPr txBox="true"/>
          <p:nvPr/>
        </p:nvSpPr>
        <p:spPr>
          <a:xfrm rot="0">
            <a:off x="7517597" y="3010691"/>
            <a:ext cx="777992" cy="2517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41"/>
              </a:lnSpc>
            </a:pPr>
            <a:r>
              <a:rPr lang="en-US" sz="1951" b="true">
                <a:solidFill>
                  <a:srgbClr val="FFFFFF"/>
                </a:solidFill>
                <a:latin typeface="Aptos Bold"/>
                <a:ea typeface="Aptos Bold"/>
                <a:cs typeface="Aptos Bold"/>
                <a:sym typeface="Aptos Bold"/>
              </a:rPr>
              <a:t>3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6556724" y="4095102"/>
            <a:ext cx="2631100" cy="8694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41"/>
              </a:lnSpc>
            </a:pPr>
            <a:r>
              <a:rPr lang="en-US" sz="1951" b="true">
                <a:solidFill>
                  <a:srgbClr val="0F1F2D"/>
                </a:solidFill>
                <a:latin typeface="Aptos Bold"/>
                <a:ea typeface="Aptos Bold"/>
                <a:cs typeface="Aptos Bold"/>
                <a:sym typeface="Aptos Bold"/>
              </a:rPr>
              <a:t>Aggregate</a:t>
            </a:r>
          </a:p>
          <a:p>
            <a:pPr algn="ctr">
              <a:lnSpc>
                <a:spcPts val="2341"/>
              </a:lnSpc>
            </a:pPr>
            <a:r>
              <a:rPr lang="en-US" sz="1951" b="true">
                <a:solidFill>
                  <a:srgbClr val="0F1F2D"/>
                </a:solidFill>
                <a:latin typeface="Aptos Bold"/>
                <a:ea typeface="Aptos Bold"/>
                <a:cs typeface="Aptos Bold"/>
                <a:sym typeface="Aptos Bold"/>
              </a:rPr>
              <a:t>Data</a:t>
            </a:r>
          </a:p>
        </p:txBody>
      </p:sp>
      <p:sp>
        <p:nvSpPr>
          <p:cNvPr name="AutoShape 20" id="20"/>
          <p:cNvSpPr/>
          <p:nvPr/>
        </p:nvSpPr>
        <p:spPr>
          <a:xfrm rot="125940">
            <a:off x="8367617" y="3216259"/>
            <a:ext cx="1040882" cy="0"/>
          </a:xfrm>
          <a:prstGeom prst="line">
            <a:avLst/>
          </a:prstGeom>
          <a:ln cap="rnd" w="19050">
            <a:solidFill>
              <a:srgbClr val="66757D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21" id="21"/>
          <p:cNvGrpSpPr/>
          <p:nvPr/>
        </p:nvGrpSpPr>
        <p:grpSpPr>
          <a:xfrm rot="0">
            <a:off x="10349951" y="2745343"/>
            <a:ext cx="960872" cy="960872"/>
            <a:chOff x="0" y="0"/>
            <a:chExt cx="1281163" cy="1281163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1281176" cy="1281176"/>
            </a:xfrm>
            <a:custGeom>
              <a:avLst/>
              <a:gdLst/>
              <a:ahLst/>
              <a:cxnLst/>
              <a:rect r="r" b="b" t="t" l="l"/>
              <a:pathLst>
                <a:path h="1281176" w="1281176">
                  <a:moveTo>
                    <a:pt x="0" y="640588"/>
                  </a:moveTo>
                  <a:cubicBezTo>
                    <a:pt x="0" y="286766"/>
                    <a:pt x="286766" y="0"/>
                    <a:pt x="640588" y="0"/>
                  </a:cubicBezTo>
                  <a:cubicBezTo>
                    <a:pt x="994410" y="0"/>
                    <a:pt x="1281176" y="286766"/>
                    <a:pt x="1281176" y="640588"/>
                  </a:cubicBezTo>
                  <a:cubicBezTo>
                    <a:pt x="1281176" y="994410"/>
                    <a:pt x="994410" y="1281176"/>
                    <a:pt x="640588" y="1281176"/>
                  </a:cubicBezTo>
                  <a:cubicBezTo>
                    <a:pt x="286766" y="1281176"/>
                    <a:pt x="0" y="994410"/>
                    <a:pt x="0" y="640588"/>
                  </a:cubicBezTo>
                  <a:close/>
                </a:path>
              </a:pathLst>
            </a:custGeom>
            <a:solidFill>
              <a:srgbClr val="13968F"/>
            </a:solidFill>
          </p:spPr>
        </p:sp>
      </p:grpSp>
      <p:sp>
        <p:nvSpPr>
          <p:cNvPr name="TextBox 23" id="23"/>
          <p:cNvSpPr txBox="true"/>
          <p:nvPr/>
        </p:nvSpPr>
        <p:spPr>
          <a:xfrm rot="0">
            <a:off x="10441391" y="3010691"/>
            <a:ext cx="777992" cy="2517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41"/>
              </a:lnSpc>
            </a:pPr>
            <a:r>
              <a:rPr lang="en-US" sz="1951" b="true">
                <a:solidFill>
                  <a:srgbClr val="FFFFFF"/>
                </a:solidFill>
                <a:latin typeface="Aptos Bold"/>
                <a:ea typeface="Aptos Bold"/>
                <a:cs typeface="Aptos Bold"/>
                <a:sym typeface="Aptos Bold"/>
              </a:rPr>
              <a:t>4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9480518" y="4095102"/>
            <a:ext cx="2631100" cy="8694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41"/>
              </a:lnSpc>
            </a:pPr>
            <a:r>
              <a:rPr lang="en-US" sz="1951" b="true">
                <a:solidFill>
                  <a:srgbClr val="0F1F2D"/>
                </a:solidFill>
                <a:latin typeface="Aptos Bold"/>
                <a:ea typeface="Aptos Bold"/>
                <a:cs typeface="Aptos Bold"/>
                <a:sym typeface="Aptos Bold"/>
              </a:rPr>
              <a:t>NILM</a:t>
            </a:r>
          </a:p>
          <a:p>
            <a:pPr algn="ctr">
              <a:lnSpc>
                <a:spcPts val="2341"/>
              </a:lnSpc>
            </a:pPr>
            <a:r>
              <a:rPr lang="en-US" sz="1951" b="true">
                <a:solidFill>
                  <a:srgbClr val="0F1F2D"/>
                </a:solidFill>
                <a:latin typeface="Aptos Bold"/>
                <a:ea typeface="Aptos Bold"/>
                <a:cs typeface="Aptos Bold"/>
                <a:sym typeface="Aptos Bold"/>
              </a:rPr>
              <a:t>Processing</a:t>
            </a:r>
          </a:p>
        </p:txBody>
      </p:sp>
      <p:sp>
        <p:nvSpPr>
          <p:cNvPr name="AutoShape 25" id="25"/>
          <p:cNvSpPr/>
          <p:nvPr/>
        </p:nvSpPr>
        <p:spPr>
          <a:xfrm rot="125940">
            <a:off x="11291402" y="3216259"/>
            <a:ext cx="1040882" cy="0"/>
          </a:xfrm>
          <a:prstGeom prst="line">
            <a:avLst/>
          </a:prstGeom>
          <a:ln cap="rnd" w="19050">
            <a:solidFill>
              <a:srgbClr val="66757D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26" id="26"/>
          <p:cNvGrpSpPr/>
          <p:nvPr/>
        </p:nvGrpSpPr>
        <p:grpSpPr>
          <a:xfrm rot="0">
            <a:off x="13273745" y="2745343"/>
            <a:ext cx="960872" cy="960872"/>
            <a:chOff x="0" y="0"/>
            <a:chExt cx="1281163" cy="1281163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1281176" cy="1281176"/>
            </a:xfrm>
            <a:custGeom>
              <a:avLst/>
              <a:gdLst/>
              <a:ahLst/>
              <a:cxnLst/>
              <a:rect r="r" b="b" t="t" l="l"/>
              <a:pathLst>
                <a:path h="1281176" w="1281176">
                  <a:moveTo>
                    <a:pt x="0" y="640588"/>
                  </a:moveTo>
                  <a:cubicBezTo>
                    <a:pt x="0" y="286766"/>
                    <a:pt x="286766" y="0"/>
                    <a:pt x="640588" y="0"/>
                  </a:cubicBezTo>
                  <a:cubicBezTo>
                    <a:pt x="994410" y="0"/>
                    <a:pt x="1281176" y="286766"/>
                    <a:pt x="1281176" y="640588"/>
                  </a:cubicBezTo>
                  <a:cubicBezTo>
                    <a:pt x="1281176" y="994410"/>
                    <a:pt x="994410" y="1281176"/>
                    <a:pt x="640588" y="1281176"/>
                  </a:cubicBezTo>
                  <a:cubicBezTo>
                    <a:pt x="286766" y="1281176"/>
                    <a:pt x="0" y="994410"/>
                    <a:pt x="0" y="640588"/>
                  </a:cubicBezTo>
                  <a:close/>
                </a:path>
              </a:pathLst>
            </a:custGeom>
            <a:solidFill>
              <a:srgbClr val="F29A49"/>
            </a:solidFill>
          </p:spPr>
        </p:sp>
      </p:grpSp>
      <p:sp>
        <p:nvSpPr>
          <p:cNvPr name="TextBox 28" id="28"/>
          <p:cNvSpPr txBox="true"/>
          <p:nvPr/>
        </p:nvSpPr>
        <p:spPr>
          <a:xfrm rot="0">
            <a:off x="13365185" y="3010691"/>
            <a:ext cx="777992" cy="2517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41"/>
              </a:lnSpc>
            </a:pPr>
            <a:r>
              <a:rPr lang="en-US" sz="1951" b="true">
                <a:solidFill>
                  <a:srgbClr val="FFFFFF"/>
                </a:solidFill>
                <a:latin typeface="Aptos Bold"/>
                <a:ea typeface="Aptos Bold"/>
                <a:cs typeface="Aptos Bold"/>
                <a:sym typeface="Aptos Bold"/>
              </a:rPr>
              <a:t>5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12404312" y="4095102"/>
            <a:ext cx="2631100" cy="8694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41"/>
              </a:lnSpc>
            </a:pPr>
            <a:r>
              <a:rPr lang="en-US" sz="1951" b="true">
                <a:solidFill>
                  <a:srgbClr val="0F1F2D"/>
                </a:solidFill>
                <a:latin typeface="Aptos Bold"/>
                <a:ea typeface="Aptos Bold"/>
                <a:cs typeface="Aptos Bold"/>
                <a:sym typeface="Aptos Bold"/>
              </a:rPr>
              <a:t>Database +</a:t>
            </a:r>
          </a:p>
          <a:p>
            <a:pPr algn="ctr">
              <a:lnSpc>
                <a:spcPts val="2341"/>
              </a:lnSpc>
            </a:pPr>
            <a:r>
              <a:rPr lang="en-US" sz="1951" b="true">
                <a:solidFill>
                  <a:srgbClr val="0F1F2D"/>
                </a:solidFill>
                <a:latin typeface="Aptos Bold"/>
                <a:ea typeface="Aptos Bold"/>
                <a:cs typeface="Aptos Bold"/>
                <a:sym typeface="Aptos Bold"/>
              </a:rPr>
              <a:t>Analytics</a:t>
            </a:r>
          </a:p>
        </p:txBody>
      </p:sp>
      <p:sp>
        <p:nvSpPr>
          <p:cNvPr name="AutoShape 30" id="30"/>
          <p:cNvSpPr/>
          <p:nvPr/>
        </p:nvSpPr>
        <p:spPr>
          <a:xfrm rot="125940">
            <a:off x="14215196" y="3216259"/>
            <a:ext cx="1040882" cy="0"/>
          </a:xfrm>
          <a:prstGeom prst="line">
            <a:avLst/>
          </a:prstGeom>
          <a:ln cap="rnd" w="19050">
            <a:solidFill>
              <a:srgbClr val="66757D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31" id="31"/>
          <p:cNvGrpSpPr/>
          <p:nvPr/>
        </p:nvGrpSpPr>
        <p:grpSpPr>
          <a:xfrm rot="0">
            <a:off x="16197529" y="2745343"/>
            <a:ext cx="960872" cy="960872"/>
            <a:chOff x="0" y="0"/>
            <a:chExt cx="1281163" cy="1281163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1281176" cy="1281176"/>
            </a:xfrm>
            <a:custGeom>
              <a:avLst/>
              <a:gdLst/>
              <a:ahLst/>
              <a:cxnLst/>
              <a:rect r="r" b="b" t="t" l="l"/>
              <a:pathLst>
                <a:path h="1281176" w="1281176">
                  <a:moveTo>
                    <a:pt x="0" y="640588"/>
                  </a:moveTo>
                  <a:cubicBezTo>
                    <a:pt x="0" y="286766"/>
                    <a:pt x="286766" y="0"/>
                    <a:pt x="640588" y="0"/>
                  </a:cubicBezTo>
                  <a:cubicBezTo>
                    <a:pt x="994410" y="0"/>
                    <a:pt x="1281176" y="286766"/>
                    <a:pt x="1281176" y="640588"/>
                  </a:cubicBezTo>
                  <a:cubicBezTo>
                    <a:pt x="1281176" y="994410"/>
                    <a:pt x="994410" y="1281176"/>
                    <a:pt x="640588" y="1281176"/>
                  </a:cubicBezTo>
                  <a:cubicBezTo>
                    <a:pt x="286766" y="1281176"/>
                    <a:pt x="0" y="994410"/>
                    <a:pt x="0" y="640588"/>
                  </a:cubicBezTo>
                  <a:close/>
                </a:path>
              </a:pathLst>
            </a:custGeom>
            <a:solidFill>
              <a:srgbClr val="F29A49"/>
            </a:solidFill>
          </p:spPr>
        </p:sp>
      </p:grpSp>
      <p:sp>
        <p:nvSpPr>
          <p:cNvPr name="TextBox 33" id="33"/>
          <p:cNvSpPr txBox="true"/>
          <p:nvPr/>
        </p:nvSpPr>
        <p:spPr>
          <a:xfrm rot="0">
            <a:off x="16288969" y="3010691"/>
            <a:ext cx="777992" cy="2517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41"/>
              </a:lnSpc>
            </a:pPr>
            <a:r>
              <a:rPr lang="en-US" sz="1951" b="true">
                <a:solidFill>
                  <a:srgbClr val="FFFFFF"/>
                </a:solidFill>
                <a:latin typeface="Aptos Bold"/>
                <a:ea typeface="Aptos Bold"/>
                <a:cs typeface="Aptos Bold"/>
                <a:sym typeface="Aptos Bold"/>
              </a:rPr>
              <a:t>6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15328106" y="4095102"/>
            <a:ext cx="2631100" cy="8694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41"/>
              </a:lnSpc>
            </a:pPr>
            <a:r>
              <a:rPr lang="en-US" sz="1951" b="true">
                <a:solidFill>
                  <a:srgbClr val="0F1F2D"/>
                </a:solidFill>
                <a:latin typeface="Aptos Bold"/>
                <a:ea typeface="Aptos Bold"/>
                <a:cs typeface="Aptos Bold"/>
                <a:sym typeface="Aptos Bold"/>
              </a:rPr>
              <a:t>Web Dashboard</a:t>
            </a:r>
          </a:p>
          <a:p>
            <a:pPr algn="ctr">
              <a:lnSpc>
                <a:spcPts val="2341"/>
              </a:lnSpc>
            </a:pPr>
            <a:r>
              <a:rPr lang="en-US" sz="1951" b="true">
                <a:solidFill>
                  <a:srgbClr val="0F1F2D"/>
                </a:solidFill>
                <a:latin typeface="Aptos Bold"/>
                <a:ea typeface="Aptos Bold"/>
                <a:cs typeface="Aptos Bold"/>
                <a:sym typeface="Aptos Bold"/>
              </a:rPr>
              <a:t>+ Alerts</a:t>
            </a:r>
          </a:p>
        </p:txBody>
      </p:sp>
      <p:sp>
        <p:nvSpPr>
          <p:cNvPr name="TextBox 35" id="35"/>
          <p:cNvSpPr txBox="true"/>
          <p:nvPr/>
        </p:nvSpPr>
        <p:spPr>
          <a:xfrm rot="0">
            <a:off x="1464116" y="6144587"/>
            <a:ext cx="15328316" cy="10848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21"/>
              </a:lnSpc>
            </a:pPr>
            <a:r>
              <a:rPr lang="en-US" sz="2101">
                <a:solidFill>
                  <a:srgbClr val="233038"/>
                </a:solidFill>
                <a:latin typeface="Aptos"/>
                <a:ea typeface="Aptos"/>
                <a:cs typeface="Aptos"/>
                <a:sym typeface="Aptos"/>
              </a:rPr>
              <a:t>NILM analyses patterns in the aggregate electricity signal and estimates the contribution of appliances such as fans, refrigerators, lights, televisions and air conditioners.</a:t>
            </a:r>
          </a:p>
        </p:txBody>
      </p:sp>
      <p:sp>
        <p:nvSpPr>
          <p:cNvPr name="TextBox 36" id="36"/>
          <p:cNvSpPr txBox="true"/>
          <p:nvPr/>
        </p:nvSpPr>
        <p:spPr>
          <a:xfrm rot="0">
            <a:off x="1464116" y="7801318"/>
            <a:ext cx="15328316" cy="6635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82"/>
              </a:lnSpc>
            </a:pPr>
            <a:r>
              <a:rPr lang="en-US" sz="2401" b="true">
                <a:solidFill>
                  <a:srgbClr val="0F1F2D"/>
                </a:solidFill>
                <a:latin typeface="Aptos Bold"/>
                <a:ea typeface="Aptos Bold"/>
                <a:cs typeface="Aptos Bold"/>
                <a:sym typeface="Aptos Bold"/>
              </a:rPr>
              <a:t>Key advantage: one whole-house measurement approach instead of a separate monitoring device on every appliance.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301840" cy="10295039"/>
            <a:chOff x="0" y="0"/>
            <a:chExt cx="24402453" cy="1372671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402414" cy="13726668"/>
            </a:xfrm>
            <a:custGeom>
              <a:avLst/>
              <a:gdLst/>
              <a:ahLst/>
              <a:cxnLst/>
              <a:rect r="r" b="b" t="t" l="l"/>
              <a:pathLst>
                <a:path h="13726668" w="24402414">
                  <a:moveTo>
                    <a:pt x="0" y="0"/>
                  </a:moveTo>
                  <a:lnTo>
                    <a:pt x="24402414" y="0"/>
                  </a:lnTo>
                  <a:lnTo>
                    <a:pt x="24402414" y="13726668"/>
                  </a:lnTo>
                  <a:lnTo>
                    <a:pt x="0" y="13726668"/>
                  </a:lnTo>
                  <a:close/>
                </a:path>
              </a:pathLst>
            </a:custGeom>
            <a:solidFill>
              <a:srgbClr val="0F1F2D"/>
            </a:solidFill>
          </p:spPr>
        </p:sp>
      </p:grpSp>
      <p:sp>
        <p:nvSpPr>
          <p:cNvPr name="TextBox 4" id="4"/>
          <p:cNvSpPr txBox="true"/>
          <p:nvPr/>
        </p:nvSpPr>
        <p:spPr>
          <a:xfrm rot="0">
            <a:off x="1052312" y="732053"/>
            <a:ext cx="5307806" cy="3889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81"/>
              </a:lnSpc>
            </a:pPr>
            <a:r>
              <a:rPr lang="en-US" sz="1651" b="true">
                <a:solidFill>
                  <a:srgbClr val="AAD7D7"/>
                </a:solidFill>
                <a:latin typeface="Aptos Bold"/>
                <a:ea typeface="Aptos Bold"/>
                <a:cs typeface="Aptos Bold"/>
                <a:sym typeface="Aptos Bold"/>
              </a:rPr>
              <a:t>THE WEBSITE SOLUTION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052312" y="1349759"/>
            <a:ext cx="10798502" cy="73216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224"/>
              </a:lnSpc>
            </a:pPr>
            <a:r>
              <a:rPr lang="en-US" sz="4353" b="true">
                <a:solidFill>
                  <a:srgbClr val="FFFFFF"/>
                </a:solidFill>
                <a:latin typeface="Aptos Bold"/>
                <a:ea typeface="Aptos Bold"/>
                <a:cs typeface="Aptos Bold"/>
                <a:sym typeface="Aptos Bold"/>
              </a:rPr>
              <a:t>Smart Energy Monitoring Dashboard</a:t>
            </a:r>
          </a:p>
        </p:txBody>
      </p:sp>
      <p:grpSp>
        <p:nvGrpSpPr>
          <p:cNvPr name="Group 6" id="6"/>
          <p:cNvGrpSpPr/>
          <p:nvPr/>
        </p:nvGrpSpPr>
        <p:grpSpPr>
          <a:xfrm rot="0">
            <a:off x="960872" y="2470814"/>
            <a:ext cx="16334804" cy="6726098"/>
            <a:chOff x="0" y="0"/>
            <a:chExt cx="21779738" cy="896813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1779739" cy="8968105"/>
            </a:xfrm>
            <a:custGeom>
              <a:avLst/>
              <a:gdLst/>
              <a:ahLst/>
              <a:cxnLst/>
              <a:rect r="r" b="b" t="t" l="l"/>
              <a:pathLst>
                <a:path h="8968105" w="21779739">
                  <a:moveTo>
                    <a:pt x="0" y="1494663"/>
                  </a:moveTo>
                  <a:cubicBezTo>
                    <a:pt x="0" y="669163"/>
                    <a:pt x="669163" y="0"/>
                    <a:pt x="1494663" y="0"/>
                  </a:cubicBezTo>
                  <a:lnTo>
                    <a:pt x="20285075" y="0"/>
                  </a:lnTo>
                  <a:cubicBezTo>
                    <a:pt x="21110575" y="0"/>
                    <a:pt x="21779739" y="669163"/>
                    <a:pt x="21779739" y="1494663"/>
                  </a:cubicBezTo>
                  <a:lnTo>
                    <a:pt x="21779739" y="7473442"/>
                  </a:lnTo>
                  <a:cubicBezTo>
                    <a:pt x="21779739" y="8298942"/>
                    <a:pt x="21110575" y="8968105"/>
                    <a:pt x="20285075" y="8968105"/>
                  </a:cubicBezTo>
                  <a:lnTo>
                    <a:pt x="1494663" y="8968105"/>
                  </a:lnTo>
                  <a:cubicBezTo>
                    <a:pt x="669163" y="8968105"/>
                    <a:pt x="0" y="8298942"/>
                    <a:pt x="0" y="7473442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8" id="8"/>
          <p:cNvGrpSpPr/>
          <p:nvPr/>
        </p:nvGrpSpPr>
        <p:grpSpPr>
          <a:xfrm rot="0">
            <a:off x="1434160" y="2875464"/>
            <a:ext cx="4338218" cy="1386973"/>
            <a:chOff x="0" y="0"/>
            <a:chExt cx="5784291" cy="1849298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5784342" cy="1849247"/>
            </a:xfrm>
            <a:custGeom>
              <a:avLst/>
              <a:gdLst/>
              <a:ahLst/>
              <a:cxnLst/>
              <a:rect r="r" b="b" t="t" l="l"/>
              <a:pathLst>
                <a:path h="1849247" w="5784342">
                  <a:moveTo>
                    <a:pt x="0" y="308229"/>
                  </a:moveTo>
                  <a:cubicBezTo>
                    <a:pt x="0" y="138049"/>
                    <a:pt x="138049" y="0"/>
                    <a:pt x="308229" y="0"/>
                  </a:cubicBezTo>
                  <a:lnTo>
                    <a:pt x="5476113" y="0"/>
                  </a:lnTo>
                  <a:cubicBezTo>
                    <a:pt x="5646293" y="0"/>
                    <a:pt x="5784342" y="138049"/>
                    <a:pt x="5784342" y="308229"/>
                  </a:cubicBezTo>
                  <a:lnTo>
                    <a:pt x="5784342" y="1541018"/>
                  </a:lnTo>
                  <a:cubicBezTo>
                    <a:pt x="5784342" y="1711198"/>
                    <a:pt x="5646293" y="1849247"/>
                    <a:pt x="5476113" y="1849247"/>
                  </a:cubicBezTo>
                  <a:lnTo>
                    <a:pt x="308229" y="1849247"/>
                  </a:lnTo>
                  <a:cubicBezTo>
                    <a:pt x="138049" y="1849247"/>
                    <a:pt x="0" y="1711325"/>
                    <a:pt x="0" y="1541018"/>
                  </a:cubicBezTo>
                  <a:close/>
                </a:path>
              </a:pathLst>
            </a:custGeom>
            <a:solidFill>
              <a:srgbClr val="F4F8F9"/>
            </a:solidFill>
            <a:ln w="14299" cap="sq">
              <a:solidFill>
                <a:srgbClr val="E1EBED"/>
              </a:solidFill>
              <a:prstDash val="solid"/>
              <a:miter/>
            </a:ln>
          </p:spPr>
        </p:sp>
      </p:grpSp>
      <p:grpSp>
        <p:nvGrpSpPr>
          <p:cNvPr name="Group 10" id="10"/>
          <p:cNvGrpSpPr/>
          <p:nvPr/>
        </p:nvGrpSpPr>
        <p:grpSpPr>
          <a:xfrm rot="0">
            <a:off x="1441304" y="2882608"/>
            <a:ext cx="96088" cy="1372676"/>
            <a:chOff x="0" y="0"/>
            <a:chExt cx="128118" cy="1830235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28143" cy="1830197"/>
            </a:xfrm>
            <a:custGeom>
              <a:avLst/>
              <a:gdLst/>
              <a:ahLst/>
              <a:cxnLst/>
              <a:rect r="r" b="b" t="t" l="l"/>
              <a:pathLst>
                <a:path h="1830197" w="128143">
                  <a:moveTo>
                    <a:pt x="0" y="0"/>
                  </a:moveTo>
                  <a:lnTo>
                    <a:pt x="128143" y="0"/>
                  </a:lnTo>
                  <a:lnTo>
                    <a:pt x="128143" y="1830197"/>
                  </a:lnTo>
                  <a:lnTo>
                    <a:pt x="0" y="1830197"/>
                  </a:lnTo>
                  <a:close/>
                </a:path>
              </a:pathLst>
            </a:custGeom>
            <a:solidFill>
              <a:srgbClr val="13968F"/>
            </a:solidFill>
          </p:spPr>
        </p:sp>
      </p:grpSp>
      <p:sp>
        <p:nvSpPr>
          <p:cNvPr name="TextBox 12" id="12"/>
          <p:cNvSpPr txBox="true"/>
          <p:nvPr/>
        </p:nvSpPr>
        <p:spPr>
          <a:xfrm rot="0">
            <a:off x="1875911" y="3202867"/>
            <a:ext cx="3591973" cy="3889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82"/>
              </a:lnSpc>
            </a:pPr>
            <a:r>
              <a:rPr lang="en-US" sz="2401" b="true">
                <a:solidFill>
                  <a:srgbClr val="0F1F2D"/>
                </a:solidFill>
                <a:latin typeface="Aptos Bold"/>
                <a:ea typeface="Aptos Bold"/>
                <a:cs typeface="Aptos Bold"/>
                <a:sym typeface="Aptos Bold"/>
              </a:rPr>
              <a:t>TODAY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875911" y="3861749"/>
            <a:ext cx="3591973" cy="1830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51"/>
              </a:lnSpc>
            </a:pPr>
            <a:r>
              <a:rPr lang="en-US" sz="1876">
                <a:solidFill>
                  <a:srgbClr val="233038"/>
                </a:solidFill>
                <a:latin typeface="Aptos"/>
                <a:ea typeface="Aptos"/>
                <a:cs typeface="Aptos"/>
                <a:sym typeface="Aptos"/>
              </a:rPr>
              <a:t>11.8 kWh</a:t>
            </a:r>
          </a:p>
        </p:txBody>
      </p:sp>
      <p:grpSp>
        <p:nvGrpSpPr>
          <p:cNvPr name="Group 14" id="14"/>
          <p:cNvGrpSpPr/>
          <p:nvPr/>
        </p:nvGrpSpPr>
        <p:grpSpPr>
          <a:xfrm rot="0">
            <a:off x="6444415" y="2875464"/>
            <a:ext cx="4338218" cy="1386973"/>
            <a:chOff x="0" y="0"/>
            <a:chExt cx="5784291" cy="1849298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5784342" cy="1849247"/>
            </a:xfrm>
            <a:custGeom>
              <a:avLst/>
              <a:gdLst/>
              <a:ahLst/>
              <a:cxnLst/>
              <a:rect r="r" b="b" t="t" l="l"/>
              <a:pathLst>
                <a:path h="1849247" w="5784342">
                  <a:moveTo>
                    <a:pt x="0" y="308229"/>
                  </a:moveTo>
                  <a:cubicBezTo>
                    <a:pt x="0" y="138049"/>
                    <a:pt x="138049" y="0"/>
                    <a:pt x="308229" y="0"/>
                  </a:cubicBezTo>
                  <a:lnTo>
                    <a:pt x="5476113" y="0"/>
                  </a:lnTo>
                  <a:cubicBezTo>
                    <a:pt x="5646293" y="0"/>
                    <a:pt x="5784342" y="138049"/>
                    <a:pt x="5784342" y="308229"/>
                  </a:cubicBezTo>
                  <a:lnTo>
                    <a:pt x="5784342" y="1541018"/>
                  </a:lnTo>
                  <a:cubicBezTo>
                    <a:pt x="5784342" y="1711198"/>
                    <a:pt x="5646293" y="1849247"/>
                    <a:pt x="5476113" y="1849247"/>
                  </a:cubicBezTo>
                  <a:lnTo>
                    <a:pt x="308229" y="1849247"/>
                  </a:lnTo>
                  <a:cubicBezTo>
                    <a:pt x="138049" y="1849247"/>
                    <a:pt x="0" y="1711325"/>
                    <a:pt x="0" y="1541018"/>
                  </a:cubicBezTo>
                  <a:close/>
                </a:path>
              </a:pathLst>
            </a:custGeom>
            <a:solidFill>
              <a:srgbClr val="F4F8F9"/>
            </a:solidFill>
            <a:ln w="14299" cap="sq">
              <a:solidFill>
                <a:srgbClr val="E1EBED"/>
              </a:solidFill>
              <a:prstDash val="solid"/>
              <a:miter/>
            </a:ln>
          </p:spPr>
        </p:sp>
      </p:grpSp>
      <p:grpSp>
        <p:nvGrpSpPr>
          <p:cNvPr name="Group 16" id="16"/>
          <p:cNvGrpSpPr/>
          <p:nvPr/>
        </p:nvGrpSpPr>
        <p:grpSpPr>
          <a:xfrm rot="0">
            <a:off x="6451559" y="2882608"/>
            <a:ext cx="96088" cy="1372676"/>
            <a:chOff x="0" y="0"/>
            <a:chExt cx="128118" cy="1830235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128143" cy="1830197"/>
            </a:xfrm>
            <a:custGeom>
              <a:avLst/>
              <a:gdLst/>
              <a:ahLst/>
              <a:cxnLst/>
              <a:rect r="r" b="b" t="t" l="l"/>
              <a:pathLst>
                <a:path h="1830197" w="128143">
                  <a:moveTo>
                    <a:pt x="0" y="0"/>
                  </a:moveTo>
                  <a:lnTo>
                    <a:pt x="128143" y="0"/>
                  </a:lnTo>
                  <a:lnTo>
                    <a:pt x="128143" y="1830197"/>
                  </a:lnTo>
                  <a:lnTo>
                    <a:pt x="0" y="1830197"/>
                  </a:lnTo>
                  <a:close/>
                </a:path>
              </a:pathLst>
            </a:custGeom>
            <a:solidFill>
              <a:srgbClr val="13968F"/>
            </a:solidFill>
          </p:spPr>
        </p:sp>
      </p:grpSp>
      <p:sp>
        <p:nvSpPr>
          <p:cNvPr name="TextBox 18" id="18"/>
          <p:cNvSpPr txBox="true"/>
          <p:nvPr/>
        </p:nvSpPr>
        <p:spPr>
          <a:xfrm rot="0">
            <a:off x="6886165" y="3202867"/>
            <a:ext cx="3591973" cy="3889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82"/>
              </a:lnSpc>
            </a:pPr>
            <a:r>
              <a:rPr lang="en-US" sz="2401" b="true">
                <a:solidFill>
                  <a:srgbClr val="0F1F2D"/>
                </a:solidFill>
                <a:latin typeface="Aptos Bold"/>
                <a:ea typeface="Aptos Bold"/>
                <a:cs typeface="Aptos Bold"/>
                <a:sym typeface="Aptos Bold"/>
              </a:rPr>
              <a:t>MONTH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6886165" y="3861749"/>
            <a:ext cx="3591973" cy="1830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51"/>
              </a:lnSpc>
            </a:pPr>
            <a:r>
              <a:rPr lang="en-US" sz="1876">
                <a:solidFill>
                  <a:srgbClr val="233038"/>
                </a:solidFill>
                <a:latin typeface="Aptos"/>
                <a:ea typeface="Aptos"/>
                <a:cs typeface="Aptos"/>
                <a:sym typeface="Aptos"/>
              </a:rPr>
              <a:t>286 kWh</a:t>
            </a:r>
          </a:p>
        </p:txBody>
      </p:sp>
      <p:grpSp>
        <p:nvGrpSpPr>
          <p:cNvPr name="Group 20" id="20"/>
          <p:cNvGrpSpPr/>
          <p:nvPr/>
        </p:nvGrpSpPr>
        <p:grpSpPr>
          <a:xfrm rot="0">
            <a:off x="11454670" y="2875464"/>
            <a:ext cx="4338218" cy="1386973"/>
            <a:chOff x="0" y="0"/>
            <a:chExt cx="5784291" cy="1849298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5784342" cy="1849247"/>
            </a:xfrm>
            <a:custGeom>
              <a:avLst/>
              <a:gdLst/>
              <a:ahLst/>
              <a:cxnLst/>
              <a:rect r="r" b="b" t="t" l="l"/>
              <a:pathLst>
                <a:path h="1849247" w="5784342">
                  <a:moveTo>
                    <a:pt x="0" y="308229"/>
                  </a:moveTo>
                  <a:cubicBezTo>
                    <a:pt x="0" y="138049"/>
                    <a:pt x="138049" y="0"/>
                    <a:pt x="308229" y="0"/>
                  </a:cubicBezTo>
                  <a:lnTo>
                    <a:pt x="5476113" y="0"/>
                  </a:lnTo>
                  <a:cubicBezTo>
                    <a:pt x="5646293" y="0"/>
                    <a:pt x="5784342" y="138049"/>
                    <a:pt x="5784342" y="308229"/>
                  </a:cubicBezTo>
                  <a:lnTo>
                    <a:pt x="5784342" y="1541018"/>
                  </a:lnTo>
                  <a:cubicBezTo>
                    <a:pt x="5784342" y="1711198"/>
                    <a:pt x="5646293" y="1849247"/>
                    <a:pt x="5476113" y="1849247"/>
                  </a:cubicBezTo>
                  <a:lnTo>
                    <a:pt x="308229" y="1849247"/>
                  </a:lnTo>
                  <a:cubicBezTo>
                    <a:pt x="138049" y="1849247"/>
                    <a:pt x="0" y="1711325"/>
                    <a:pt x="0" y="1541018"/>
                  </a:cubicBezTo>
                  <a:close/>
                </a:path>
              </a:pathLst>
            </a:custGeom>
            <a:solidFill>
              <a:srgbClr val="F4F8F9"/>
            </a:solidFill>
            <a:ln w="14299" cap="sq">
              <a:solidFill>
                <a:srgbClr val="E1EBED"/>
              </a:solidFill>
              <a:prstDash val="solid"/>
              <a:miter/>
            </a:ln>
          </p:spPr>
        </p:sp>
      </p:grpSp>
      <p:grpSp>
        <p:nvGrpSpPr>
          <p:cNvPr name="Group 22" id="22"/>
          <p:cNvGrpSpPr/>
          <p:nvPr/>
        </p:nvGrpSpPr>
        <p:grpSpPr>
          <a:xfrm rot="0">
            <a:off x="11461813" y="2882608"/>
            <a:ext cx="96088" cy="1372676"/>
            <a:chOff x="0" y="0"/>
            <a:chExt cx="128118" cy="1830235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128143" cy="1830197"/>
            </a:xfrm>
            <a:custGeom>
              <a:avLst/>
              <a:gdLst/>
              <a:ahLst/>
              <a:cxnLst/>
              <a:rect r="r" b="b" t="t" l="l"/>
              <a:pathLst>
                <a:path h="1830197" w="128143">
                  <a:moveTo>
                    <a:pt x="0" y="0"/>
                  </a:moveTo>
                  <a:lnTo>
                    <a:pt x="128143" y="0"/>
                  </a:lnTo>
                  <a:lnTo>
                    <a:pt x="128143" y="1830197"/>
                  </a:lnTo>
                  <a:lnTo>
                    <a:pt x="0" y="1830197"/>
                  </a:lnTo>
                  <a:close/>
                </a:path>
              </a:pathLst>
            </a:custGeom>
            <a:solidFill>
              <a:srgbClr val="D54E4E"/>
            </a:solidFill>
          </p:spPr>
        </p:sp>
      </p:grpSp>
      <p:sp>
        <p:nvSpPr>
          <p:cNvPr name="TextBox 24" id="24"/>
          <p:cNvSpPr txBox="true"/>
          <p:nvPr/>
        </p:nvSpPr>
        <p:spPr>
          <a:xfrm rot="0">
            <a:off x="11896420" y="3202867"/>
            <a:ext cx="3591973" cy="3889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82"/>
              </a:lnSpc>
            </a:pPr>
            <a:r>
              <a:rPr lang="en-US" sz="2401" b="true">
                <a:solidFill>
                  <a:srgbClr val="0F1F2D"/>
                </a:solidFill>
                <a:latin typeface="Aptos Bold"/>
                <a:ea typeface="Aptos Bold"/>
                <a:cs typeface="Aptos Bold"/>
                <a:sym typeface="Aptos Bold"/>
              </a:rPr>
              <a:t>STATUS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11896420" y="3861749"/>
            <a:ext cx="3591973" cy="1830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51"/>
              </a:lnSpc>
            </a:pPr>
            <a:r>
              <a:rPr lang="en-US" sz="1876">
                <a:solidFill>
                  <a:srgbClr val="233038"/>
                </a:solidFill>
                <a:latin typeface="Aptos"/>
                <a:ea typeface="Aptos"/>
                <a:cs typeface="Aptos"/>
                <a:sym typeface="Aptos"/>
              </a:rPr>
              <a:t>+21% HIGH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1601381" y="4918710"/>
            <a:ext cx="2837002" cy="3203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41"/>
              </a:lnSpc>
            </a:pPr>
            <a:r>
              <a:rPr lang="en-US" sz="1951" b="true">
                <a:solidFill>
                  <a:srgbClr val="0F1F2D"/>
                </a:solidFill>
                <a:latin typeface="Aptos Bold"/>
                <a:ea typeface="Aptos Bold"/>
                <a:cs typeface="Aptos Bold"/>
                <a:sym typeface="Aptos Bold"/>
              </a:rPr>
              <a:t>14-day consumption</a:t>
            </a:r>
          </a:p>
        </p:txBody>
      </p:sp>
      <p:grpSp>
        <p:nvGrpSpPr>
          <p:cNvPr name="Group 27" id="27"/>
          <p:cNvGrpSpPr/>
          <p:nvPr/>
        </p:nvGrpSpPr>
        <p:grpSpPr>
          <a:xfrm rot="0">
            <a:off x="1509941" y="6446072"/>
            <a:ext cx="192176" cy="1515427"/>
            <a:chOff x="0" y="0"/>
            <a:chExt cx="256235" cy="2020570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256286" cy="2020570"/>
            </a:xfrm>
            <a:custGeom>
              <a:avLst/>
              <a:gdLst/>
              <a:ahLst/>
              <a:cxnLst/>
              <a:rect r="r" b="b" t="t" l="l"/>
              <a:pathLst>
                <a:path h="2020570" w="256286">
                  <a:moveTo>
                    <a:pt x="0" y="0"/>
                  </a:moveTo>
                  <a:lnTo>
                    <a:pt x="256286" y="0"/>
                  </a:lnTo>
                  <a:lnTo>
                    <a:pt x="256286" y="2020570"/>
                  </a:lnTo>
                  <a:lnTo>
                    <a:pt x="0" y="2020570"/>
                  </a:lnTo>
                  <a:close/>
                </a:path>
              </a:pathLst>
            </a:custGeom>
            <a:solidFill>
              <a:srgbClr val="13968F"/>
            </a:solidFill>
          </p:spPr>
        </p:sp>
      </p:grpSp>
      <p:grpSp>
        <p:nvGrpSpPr>
          <p:cNvPr name="Group 29" id="29"/>
          <p:cNvGrpSpPr/>
          <p:nvPr/>
        </p:nvGrpSpPr>
        <p:grpSpPr>
          <a:xfrm rot="0">
            <a:off x="1811931" y="6182516"/>
            <a:ext cx="192176" cy="1778984"/>
            <a:chOff x="0" y="0"/>
            <a:chExt cx="256235" cy="2371979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256286" cy="2371979"/>
            </a:xfrm>
            <a:custGeom>
              <a:avLst/>
              <a:gdLst/>
              <a:ahLst/>
              <a:cxnLst/>
              <a:rect r="r" b="b" t="t" l="l"/>
              <a:pathLst>
                <a:path h="2371979" w="256286">
                  <a:moveTo>
                    <a:pt x="0" y="0"/>
                  </a:moveTo>
                  <a:lnTo>
                    <a:pt x="256286" y="0"/>
                  </a:lnTo>
                  <a:lnTo>
                    <a:pt x="256286" y="2371979"/>
                  </a:lnTo>
                  <a:lnTo>
                    <a:pt x="0" y="2371979"/>
                  </a:lnTo>
                  <a:close/>
                </a:path>
              </a:pathLst>
            </a:custGeom>
            <a:solidFill>
              <a:srgbClr val="13968F"/>
            </a:solidFill>
          </p:spPr>
        </p:sp>
      </p:grpSp>
      <p:grpSp>
        <p:nvGrpSpPr>
          <p:cNvPr name="Group 31" id="31"/>
          <p:cNvGrpSpPr/>
          <p:nvPr/>
        </p:nvGrpSpPr>
        <p:grpSpPr>
          <a:xfrm rot="0">
            <a:off x="2113912" y="6380178"/>
            <a:ext cx="192176" cy="1581321"/>
            <a:chOff x="0" y="0"/>
            <a:chExt cx="256235" cy="2108429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256286" cy="2108454"/>
            </a:xfrm>
            <a:custGeom>
              <a:avLst/>
              <a:gdLst/>
              <a:ahLst/>
              <a:cxnLst/>
              <a:rect r="r" b="b" t="t" l="l"/>
              <a:pathLst>
                <a:path h="2108454" w="256286">
                  <a:moveTo>
                    <a:pt x="0" y="0"/>
                  </a:moveTo>
                  <a:lnTo>
                    <a:pt x="256286" y="0"/>
                  </a:lnTo>
                  <a:lnTo>
                    <a:pt x="256286" y="2108454"/>
                  </a:lnTo>
                  <a:lnTo>
                    <a:pt x="0" y="2108454"/>
                  </a:lnTo>
                  <a:close/>
                </a:path>
              </a:pathLst>
            </a:custGeom>
            <a:solidFill>
              <a:srgbClr val="13968F"/>
            </a:solidFill>
          </p:spPr>
        </p:sp>
      </p:grpSp>
      <p:grpSp>
        <p:nvGrpSpPr>
          <p:cNvPr name="Group 33" id="33"/>
          <p:cNvGrpSpPr/>
          <p:nvPr/>
        </p:nvGrpSpPr>
        <p:grpSpPr>
          <a:xfrm rot="0">
            <a:off x="2415902" y="5918959"/>
            <a:ext cx="192176" cy="2042531"/>
            <a:chOff x="0" y="0"/>
            <a:chExt cx="256235" cy="2723375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256286" cy="2723388"/>
            </a:xfrm>
            <a:custGeom>
              <a:avLst/>
              <a:gdLst/>
              <a:ahLst/>
              <a:cxnLst/>
              <a:rect r="r" b="b" t="t" l="l"/>
              <a:pathLst>
                <a:path h="2723388" w="256286">
                  <a:moveTo>
                    <a:pt x="0" y="0"/>
                  </a:moveTo>
                  <a:lnTo>
                    <a:pt x="256286" y="0"/>
                  </a:lnTo>
                  <a:lnTo>
                    <a:pt x="256286" y="2723388"/>
                  </a:lnTo>
                  <a:lnTo>
                    <a:pt x="0" y="2723388"/>
                  </a:lnTo>
                  <a:close/>
                </a:path>
              </a:pathLst>
            </a:custGeom>
            <a:solidFill>
              <a:srgbClr val="13968F"/>
            </a:solidFill>
          </p:spPr>
        </p:sp>
      </p:grpSp>
      <p:grpSp>
        <p:nvGrpSpPr>
          <p:cNvPr name="Group 35" id="35"/>
          <p:cNvGrpSpPr/>
          <p:nvPr/>
        </p:nvGrpSpPr>
        <p:grpSpPr>
          <a:xfrm rot="0">
            <a:off x="2717892" y="5787190"/>
            <a:ext cx="192176" cy="2174310"/>
            <a:chOff x="0" y="0"/>
            <a:chExt cx="256235" cy="2899080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256286" cy="2899029"/>
            </a:xfrm>
            <a:custGeom>
              <a:avLst/>
              <a:gdLst/>
              <a:ahLst/>
              <a:cxnLst/>
              <a:rect r="r" b="b" t="t" l="l"/>
              <a:pathLst>
                <a:path h="2899029" w="256286">
                  <a:moveTo>
                    <a:pt x="0" y="0"/>
                  </a:moveTo>
                  <a:lnTo>
                    <a:pt x="256286" y="0"/>
                  </a:lnTo>
                  <a:lnTo>
                    <a:pt x="256286" y="2899029"/>
                  </a:lnTo>
                  <a:lnTo>
                    <a:pt x="0" y="2899029"/>
                  </a:lnTo>
                  <a:close/>
                </a:path>
              </a:pathLst>
            </a:custGeom>
            <a:solidFill>
              <a:srgbClr val="13968F"/>
            </a:solidFill>
          </p:spPr>
        </p:sp>
      </p:grpSp>
      <p:grpSp>
        <p:nvGrpSpPr>
          <p:cNvPr name="Group 37" id="37"/>
          <p:cNvGrpSpPr/>
          <p:nvPr/>
        </p:nvGrpSpPr>
        <p:grpSpPr>
          <a:xfrm rot="0">
            <a:off x="3019882" y="6314294"/>
            <a:ext cx="192176" cy="1647206"/>
            <a:chOff x="0" y="0"/>
            <a:chExt cx="256235" cy="2196274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256286" cy="2196338"/>
            </a:xfrm>
            <a:custGeom>
              <a:avLst/>
              <a:gdLst/>
              <a:ahLst/>
              <a:cxnLst/>
              <a:rect r="r" b="b" t="t" l="l"/>
              <a:pathLst>
                <a:path h="2196338" w="256286">
                  <a:moveTo>
                    <a:pt x="0" y="0"/>
                  </a:moveTo>
                  <a:lnTo>
                    <a:pt x="256286" y="0"/>
                  </a:lnTo>
                  <a:lnTo>
                    <a:pt x="256286" y="2196338"/>
                  </a:lnTo>
                  <a:lnTo>
                    <a:pt x="0" y="2196338"/>
                  </a:lnTo>
                  <a:close/>
                </a:path>
              </a:pathLst>
            </a:custGeom>
            <a:solidFill>
              <a:srgbClr val="13968F"/>
            </a:solidFill>
          </p:spPr>
        </p:sp>
      </p:grpSp>
      <p:grpSp>
        <p:nvGrpSpPr>
          <p:cNvPr name="Group 39" id="39"/>
          <p:cNvGrpSpPr/>
          <p:nvPr/>
        </p:nvGrpSpPr>
        <p:grpSpPr>
          <a:xfrm rot="0">
            <a:off x="3321863" y="6116631"/>
            <a:ext cx="192176" cy="1844869"/>
            <a:chOff x="0" y="0"/>
            <a:chExt cx="256235" cy="2459825"/>
          </a:xfrm>
        </p:grpSpPr>
        <p:sp>
          <p:nvSpPr>
            <p:cNvPr name="Freeform 40" id="40"/>
            <p:cNvSpPr/>
            <p:nvPr/>
          </p:nvSpPr>
          <p:spPr>
            <a:xfrm flipH="false" flipV="false" rot="0">
              <a:off x="0" y="0"/>
              <a:ext cx="256286" cy="2459863"/>
            </a:xfrm>
            <a:custGeom>
              <a:avLst/>
              <a:gdLst/>
              <a:ahLst/>
              <a:cxnLst/>
              <a:rect r="r" b="b" t="t" l="l"/>
              <a:pathLst>
                <a:path h="2459863" w="256286">
                  <a:moveTo>
                    <a:pt x="0" y="0"/>
                  </a:moveTo>
                  <a:lnTo>
                    <a:pt x="256286" y="0"/>
                  </a:lnTo>
                  <a:lnTo>
                    <a:pt x="256286" y="2459863"/>
                  </a:lnTo>
                  <a:lnTo>
                    <a:pt x="0" y="2459863"/>
                  </a:lnTo>
                  <a:close/>
                </a:path>
              </a:pathLst>
            </a:custGeom>
            <a:solidFill>
              <a:srgbClr val="13968F"/>
            </a:solidFill>
          </p:spPr>
        </p:sp>
      </p:grpSp>
      <p:grpSp>
        <p:nvGrpSpPr>
          <p:cNvPr name="Group 41" id="41"/>
          <p:cNvGrpSpPr/>
          <p:nvPr/>
        </p:nvGrpSpPr>
        <p:grpSpPr>
          <a:xfrm rot="0">
            <a:off x="3623853" y="5853074"/>
            <a:ext cx="192176" cy="2108425"/>
            <a:chOff x="0" y="0"/>
            <a:chExt cx="256235" cy="2811234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0" y="0"/>
              <a:ext cx="256286" cy="2811272"/>
            </a:xfrm>
            <a:custGeom>
              <a:avLst/>
              <a:gdLst/>
              <a:ahLst/>
              <a:cxnLst/>
              <a:rect r="r" b="b" t="t" l="l"/>
              <a:pathLst>
                <a:path h="2811272" w="256286">
                  <a:moveTo>
                    <a:pt x="0" y="0"/>
                  </a:moveTo>
                  <a:lnTo>
                    <a:pt x="256286" y="0"/>
                  </a:lnTo>
                  <a:lnTo>
                    <a:pt x="256286" y="2811272"/>
                  </a:lnTo>
                  <a:lnTo>
                    <a:pt x="0" y="2811272"/>
                  </a:lnTo>
                  <a:close/>
                </a:path>
              </a:pathLst>
            </a:custGeom>
            <a:solidFill>
              <a:srgbClr val="13968F"/>
            </a:solidFill>
          </p:spPr>
        </p:sp>
      </p:grpSp>
      <p:grpSp>
        <p:nvGrpSpPr>
          <p:cNvPr name="Group 43" id="43"/>
          <p:cNvGrpSpPr/>
          <p:nvPr/>
        </p:nvGrpSpPr>
        <p:grpSpPr>
          <a:xfrm rot="0">
            <a:off x="3925843" y="5721296"/>
            <a:ext cx="192176" cy="2240204"/>
            <a:chOff x="0" y="0"/>
            <a:chExt cx="256235" cy="2986938"/>
          </a:xfrm>
        </p:grpSpPr>
        <p:sp>
          <p:nvSpPr>
            <p:cNvPr name="Freeform 44" id="44"/>
            <p:cNvSpPr/>
            <p:nvPr/>
          </p:nvSpPr>
          <p:spPr>
            <a:xfrm flipH="false" flipV="false" rot="0">
              <a:off x="0" y="0"/>
              <a:ext cx="256286" cy="2986913"/>
            </a:xfrm>
            <a:custGeom>
              <a:avLst/>
              <a:gdLst/>
              <a:ahLst/>
              <a:cxnLst/>
              <a:rect r="r" b="b" t="t" l="l"/>
              <a:pathLst>
                <a:path h="2986913" w="256286">
                  <a:moveTo>
                    <a:pt x="0" y="0"/>
                  </a:moveTo>
                  <a:lnTo>
                    <a:pt x="256286" y="0"/>
                  </a:lnTo>
                  <a:lnTo>
                    <a:pt x="256286" y="2986913"/>
                  </a:lnTo>
                  <a:lnTo>
                    <a:pt x="0" y="2986913"/>
                  </a:lnTo>
                  <a:close/>
                </a:path>
              </a:pathLst>
            </a:custGeom>
            <a:solidFill>
              <a:srgbClr val="13968F"/>
            </a:solidFill>
          </p:spPr>
        </p:sp>
      </p:grpSp>
      <p:grpSp>
        <p:nvGrpSpPr>
          <p:cNvPr name="Group 45" id="45"/>
          <p:cNvGrpSpPr/>
          <p:nvPr/>
        </p:nvGrpSpPr>
        <p:grpSpPr>
          <a:xfrm rot="0">
            <a:off x="4227833" y="6182516"/>
            <a:ext cx="192176" cy="1778984"/>
            <a:chOff x="0" y="0"/>
            <a:chExt cx="256235" cy="2371979"/>
          </a:xfrm>
        </p:grpSpPr>
        <p:sp>
          <p:nvSpPr>
            <p:cNvPr name="Freeform 46" id="46"/>
            <p:cNvSpPr/>
            <p:nvPr/>
          </p:nvSpPr>
          <p:spPr>
            <a:xfrm flipH="false" flipV="false" rot="0">
              <a:off x="0" y="0"/>
              <a:ext cx="256286" cy="2371979"/>
            </a:xfrm>
            <a:custGeom>
              <a:avLst/>
              <a:gdLst/>
              <a:ahLst/>
              <a:cxnLst/>
              <a:rect r="r" b="b" t="t" l="l"/>
              <a:pathLst>
                <a:path h="2371979" w="256286">
                  <a:moveTo>
                    <a:pt x="0" y="0"/>
                  </a:moveTo>
                  <a:lnTo>
                    <a:pt x="256286" y="0"/>
                  </a:lnTo>
                  <a:lnTo>
                    <a:pt x="256286" y="2371979"/>
                  </a:lnTo>
                  <a:lnTo>
                    <a:pt x="0" y="2371979"/>
                  </a:lnTo>
                  <a:close/>
                </a:path>
              </a:pathLst>
            </a:custGeom>
            <a:solidFill>
              <a:srgbClr val="13968F"/>
            </a:solidFill>
          </p:spPr>
        </p:sp>
      </p:grpSp>
      <p:grpSp>
        <p:nvGrpSpPr>
          <p:cNvPr name="Group 47" id="47"/>
          <p:cNvGrpSpPr/>
          <p:nvPr/>
        </p:nvGrpSpPr>
        <p:grpSpPr>
          <a:xfrm rot="0">
            <a:off x="4529823" y="5655412"/>
            <a:ext cx="192176" cy="2306088"/>
            <a:chOff x="0" y="0"/>
            <a:chExt cx="256235" cy="3074784"/>
          </a:xfrm>
        </p:grpSpPr>
        <p:sp>
          <p:nvSpPr>
            <p:cNvPr name="Freeform 48" id="48"/>
            <p:cNvSpPr/>
            <p:nvPr/>
          </p:nvSpPr>
          <p:spPr>
            <a:xfrm flipH="false" flipV="false" rot="0">
              <a:off x="0" y="0"/>
              <a:ext cx="256286" cy="3074797"/>
            </a:xfrm>
            <a:custGeom>
              <a:avLst/>
              <a:gdLst/>
              <a:ahLst/>
              <a:cxnLst/>
              <a:rect r="r" b="b" t="t" l="l"/>
              <a:pathLst>
                <a:path h="3074797" w="256286">
                  <a:moveTo>
                    <a:pt x="0" y="0"/>
                  </a:moveTo>
                  <a:lnTo>
                    <a:pt x="256286" y="0"/>
                  </a:lnTo>
                  <a:lnTo>
                    <a:pt x="256286" y="3074797"/>
                  </a:lnTo>
                  <a:lnTo>
                    <a:pt x="0" y="3074797"/>
                  </a:lnTo>
                  <a:close/>
                </a:path>
              </a:pathLst>
            </a:custGeom>
            <a:solidFill>
              <a:srgbClr val="13968F"/>
            </a:solidFill>
          </p:spPr>
        </p:sp>
      </p:grpSp>
      <p:grpSp>
        <p:nvGrpSpPr>
          <p:cNvPr name="Group 49" id="49"/>
          <p:cNvGrpSpPr/>
          <p:nvPr/>
        </p:nvGrpSpPr>
        <p:grpSpPr>
          <a:xfrm rot="0">
            <a:off x="4831804" y="5918959"/>
            <a:ext cx="192176" cy="2042531"/>
            <a:chOff x="0" y="0"/>
            <a:chExt cx="256235" cy="2723375"/>
          </a:xfrm>
        </p:grpSpPr>
        <p:sp>
          <p:nvSpPr>
            <p:cNvPr name="Freeform 50" id="50"/>
            <p:cNvSpPr/>
            <p:nvPr/>
          </p:nvSpPr>
          <p:spPr>
            <a:xfrm flipH="false" flipV="false" rot="0">
              <a:off x="0" y="0"/>
              <a:ext cx="256286" cy="2723388"/>
            </a:xfrm>
            <a:custGeom>
              <a:avLst/>
              <a:gdLst/>
              <a:ahLst/>
              <a:cxnLst/>
              <a:rect r="r" b="b" t="t" l="l"/>
              <a:pathLst>
                <a:path h="2723388" w="256286">
                  <a:moveTo>
                    <a:pt x="0" y="0"/>
                  </a:moveTo>
                  <a:lnTo>
                    <a:pt x="256286" y="0"/>
                  </a:lnTo>
                  <a:lnTo>
                    <a:pt x="256286" y="2723388"/>
                  </a:lnTo>
                  <a:lnTo>
                    <a:pt x="0" y="2723388"/>
                  </a:lnTo>
                  <a:close/>
                </a:path>
              </a:pathLst>
            </a:custGeom>
            <a:solidFill>
              <a:srgbClr val="13968F"/>
            </a:solidFill>
          </p:spPr>
        </p:sp>
      </p:grpSp>
      <p:grpSp>
        <p:nvGrpSpPr>
          <p:cNvPr name="Group 51" id="51"/>
          <p:cNvGrpSpPr/>
          <p:nvPr/>
        </p:nvGrpSpPr>
        <p:grpSpPr>
          <a:xfrm rot="0">
            <a:off x="5133794" y="5984853"/>
            <a:ext cx="192176" cy="1976647"/>
            <a:chOff x="0" y="0"/>
            <a:chExt cx="256235" cy="2635529"/>
          </a:xfrm>
        </p:grpSpPr>
        <p:sp>
          <p:nvSpPr>
            <p:cNvPr name="Freeform 52" id="52"/>
            <p:cNvSpPr/>
            <p:nvPr/>
          </p:nvSpPr>
          <p:spPr>
            <a:xfrm flipH="false" flipV="false" rot="0">
              <a:off x="0" y="0"/>
              <a:ext cx="256286" cy="2635504"/>
            </a:xfrm>
            <a:custGeom>
              <a:avLst/>
              <a:gdLst/>
              <a:ahLst/>
              <a:cxnLst/>
              <a:rect r="r" b="b" t="t" l="l"/>
              <a:pathLst>
                <a:path h="2635504" w="256286">
                  <a:moveTo>
                    <a:pt x="0" y="0"/>
                  </a:moveTo>
                  <a:lnTo>
                    <a:pt x="256286" y="0"/>
                  </a:lnTo>
                  <a:lnTo>
                    <a:pt x="256286" y="2635504"/>
                  </a:lnTo>
                  <a:lnTo>
                    <a:pt x="0" y="2635504"/>
                  </a:lnTo>
                  <a:close/>
                </a:path>
              </a:pathLst>
            </a:custGeom>
            <a:solidFill>
              <a:srgbClr val="13968F"/>
            </a:solidFill>
          </p:spPr>
        </p:sp>
      </p:grpSp>
      <p:grpSp>
        <p:nvGrpSpPr>
          <p:cNvPr name="Group 53" id="53"/>
          <p:cNvGrpSpPr/>
          <p:nvPr/>
        </p:nvGrpSpPr>
        <p:grpSpPr>
          <a:xfrm rot="0">
            <a:off x="5435784" y="5721296"/>
            <a:ext cx="192176" cy="2240204"/>
            <a:chOff x="0" y="0"/>
            <a:chExt cx="256235" cy="2986938"/>
          </a:xfrm>
        </p:grpSpPr>
        <p:sp>
          <p:nvSpPr>
            <p:cNvPr name="Freeform 54" id="54"/>
            <p:cNvSpPr/>
            <p:nvPr/>
          </p:nvSpPr>
          <p:spPr>
            <a:xfrm flipH="false" flipV="false" rot="0">
              <a:off x="0" y="0"/>
              <a:ext cx="256286" cy="2986913"/>
            </a:xfrm>
            <a:custGeom>
              <a:avLst/>
              <a:gdLst/>
              <a:ahLst/>
              <a:cxnLst/>
              <a:rect r="r" b="b" t="t" l="l"/>
              <a:pathLst>
                <a:path h="2986913" w="256286">
                  <a:moveTo>
                    <a:pt x="0" y="0"/>
                  </a:moveTo>
                  <a:lnTo>
                    <a:pt x="256286" y="0"/>
                  </a:lnTo>
                  <a:lnTo>
                    <a:pt x="256286" y="2986913"/>
                  </a:lnTo>
                  <a:lnTo>
                    <a:pt x="0" y="2986913"/>
                  </a:lnTo>
                  <a:close/>
                </a:path>
              </a:pathLst>
            </a:custGeom>
            <a:solidFill>
              <a:srgbClr val="13968F"/>
            </a:solidFill>
          </p:spPr>
        </p:sp>
      </p:grpSp>
      <p:sp>
        <p:nvSpPr>
          <p:cNvPr name="TextBox 55" id="55"/>
          <p:cNvSpPr txBox="true"/>
          <p:nvPr/>
        </p:nvSpPr>
        <p:spPr>
          <a:xfrm rot="0">
            <a:off x="6954803" y="4918710"/>
            <a:ext cx="3660600" cy="3203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41"/>
              </a:lnSpc>
            </a:pPr>
            <a:r>
              <a:rPr lang="en-US" sz="1951" b="true">
                <a:solidFill>
                  <a:srgbClr val="0F1F2D"/>
                </a:solidFill>
                <a:latin typeface="Aptos Bold"/>
                <a:ea typeface="Aptos Bold"/>
                <a:cs typeface="Aptos Bold"/>
                <a:sym typeface="Aptos Bold"/>
              </a:rPr>
              <a:t>Top appliance contributors</a:t>
            </a:r>
          </a:p>
        </p:txBody>
      </p:sp>
      <p:sp>
        <p:nvSpPr>
          <p:cNvPr name="TextBox 56" id="56"/>
          <p:cNvSpPr txBox="true"/>
          <p:nvPr/>
        </p:nvSpPr>
        <p:spPr>
          <a:xfrm rot="0">
            <a:off x="6954803" y="5467779"/>
            <a:ext cx="2425198" cy="2517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71"/>
              </a:lnSpc>
            </a:pPr>
            <a:r>
              <a:rPr lang="en-US" sz="1726">
                <a:solidFill>
                  <a:srgbClr val="233038"/>
                </a:solidFill>
                <a:latin typeface="Aptos"/>
                <a:ea typeface="Aptos"/>
                <a:cs typeface="Aptos"/>
                <a:sym typeface="Aptos"/>
              </a:rPr>
              <a:t>Air conditioner</a:t>
            </a:r>
          </a:p>
        </p:txBody>
      </p:sp>
      <p:sp>
        <p:nvSpPr>
          <p:cNvPr name="TextBox 57" id="57"/>
          <p:cNvSpPr txBox="true"/>
          <p:nvPr/>
        </p:nvSpPr>
        <p:spPr>
          <a:xfrm rot="0">
            <a:off x="9768783" y="5467779"/>
            <a:ext cx="777992" cy="2517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071"/>
              </a:lnSpc>
            </a:pPr>
            <a:r>
              <a:rPr lang="en-US" sz="1726" b="true">
                <a:solidFill>
                  <a:srgbClr val="D54E4E"/>
                </a:solidFill>
                <a:latin typeface="Aptos Bold"/>
                <a:ea typeface="Aptos Bold"/>
                <a:cs typeface="Aptos Bold"/>
                <a:sym typeface="Aptos Bold"/>
              </a:rPr>
              <a:t>42%</a:t>
            </a:r>
          </a:p>
        </p:txBody>
      </p:sp>
      <p:sp>
        <p:nvSpPr>
          <p:cNvPr name="TextBox 58" id="58"/>
          <p:cNvSpPr txBox="true"/>
          <p:nvPr/>
        </p:nvSpPr>
        <p:spPr>
          <a:xfrm rot="0">
            <a:off x="6954803" y="6181563"/>
            <a:ext cx="2425198" cy="2517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71"/>
              </a:lnSpc>
            </a:pPr>
            <a:r>
              <a:rPr lang="en-US" sz="1726">
                <a:solidFill>
                  <a:srgbClr val="233038"/>
                </a:solidFill>
                <a:latin typeface="Aptos"/>
                <a:ea typeface="Aptos"/>
                <a:cs typeface="Aptos"/>
                <a:sym typeface="Aptos"/>
              </a:rPr>
              <a:t>Refrigerator</a:t>
            </a:r>
          </a:p>
        </p:txBody>
      </p:sp>
      <p:sp>
        <p:nvSpPr>
          <p:cNvPr name="TextBox 59" id="59"/>
          <p:cNvSpPr txBox="true"/>
          <p:nvPr/>
        </p:nvSpPr>
        <p:spPr>
          <a:xfrm rot="0">
            <a:off x="9768783" y="6181563"/>
            <a:ext cx="777992" cy="2517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071"/>
              </a:lnSpc>
            </a:pPr>
            <a:r>
              <a:rPr lang="en-US" sz="1726" b="true">
                <a:solidFill>
                  <a:srgbClr val="F29A49"/>
                </a:solidFill>
                <a:latin typeface="Aptos Bold"/>
                <a:ea typeface="Aptos Bold"/>
                <a:cs typeface="Aptos Bold"/>
                <a:sym typeface="Aptos Bold"/>
              </a:rPr>
              <a:t>23%</a:t>
            </a:r>
          </a:p>
        </p:txBody>
      </p:sp>
      <p:sp>
        <p:nvSpPr>
          <p:cNvPr name="TextBox 60" id="60"/>
          <p:cNvSpPr txBox="true"/>
          <p:nvPr/>
        </p:nvSpPr>
        <p:spPr>
          <a:xfrm rot="0">
            <a:off x="6954803" y="6895357"/>
            <a:ext cx="2425198" cy="2517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71"/>
              </a:lnSpc>
            </a:pPr>
            <a:r>
              <a:rPr lang="en-US" sz="1726">
                <a:solidFill>
                  <a:srgbClr val="233038"/>
                </a:solidFill>
                <a:latin typeface="Aptos"/>
                <a:ea typeface="Aptos"/>
                <a:cs typeface="Aptos"/>
                <a:sym typeface="Aptos"/>
              </a:rPr>
              <a:t>Fans</a:t>
            </a:r>
          </a:p>
        </p:txBody>
      </p:sp>
      <p:sp>
        <p:nvSpPr>
          <p:cNvPr name="TextBox 61" id="61"/>
          <p:cNvSpPr txBox="true"/>
          <p:nvPr/>
        </p:nvSpPr>
        <p:spPr>
          <a:xfrm rot="0">
            <a:off x="9768783" y="6895357"/>
            <a:ext cx="777992" cy="2517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071"/>
              </a:lnSpc>
            </a:pPr>
            <a:r>
              <a:rPr lang="en-US" sz="1726" b="true">
                <a:solidFill>
                  <a:srgbClr val="13968F"/>
                </a:solidFill>
                <a:latin typeface="Aptos Bold"/>
                <a:ea typeface="Aptos Bold"/>
                <a:cs typeface="Aptos Bold"/>
                <a:sym typeface="Aptos Bold"/>
              </a:rPr>
              <a:t>14%</a:t>
            </a:r>
          </a:p>
        </p:txBody>
      </p:sp>
      <p:sp>
        <p:nvSpPr>
          <p:cNvPr name="TextBox 62" id="62"/>
          <p:cNvSpPr txBox="true"/>
          <p:nvPr/>
        </p:nvSpPr>
        <p:spPr>
          <a:xfrm rot="0">
            <a:off x="6954803" y="7609142"/>
            <a:ext cx="2425198" cy="2517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71"/>
              </a:lnSpc>
            </a:pPr>
            <a:r>
              <a:rPr lang="en-US" sz="1726">
                <a:solidFill>
                  <a:srgbClr val="233038"/>
                </a:solidFill>
                <a:latin typeface="Aptos"/>
                <a:ea typeface="Aptos"/>
                <a:cs typeface="Aptos"/>
                <a:sym typeface="Aptos"/>
              </a:rPr>
              <a:t>Lighting</a:t>
            </a:r>
          </a:p>
        </p:txBody>
      </p:sp>
      <p:sp>
        <p:nvSpPr>
          <p:cNvPr name="TextBox 63" id="63"/>
          <p:cNvSpPr txBox="true"/>
          <p:nvPr/>
        </p:nvSpPr>
        <p:spPr>
          <a:xfrm rot="0">
            <a:off x="9768783" y="7609142"/>
            <a:ext cx="777992" cy="2517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071"/>
              </a:lnSpc>
            </a:pPr>
            <a:r>
              <a:rPr lang="en-US" sz="1726" b="true">
                <a:solidFill>
                  <a:srgbClr val="13968F"/>
                </a:solidFill>
                <a:latin typeface="Aptos Bold"/>
                <a:ea typeface="Aptos Bold"/>
                <a:cs typeface="Aptos Bold"/>
                <a:sym typeface="Aptos Bold"/>
              </a:rPr>
              <a:t>9%</a:t>
            </a:r>
          </a:p>
        </p:txBody>
      </p:sp>
      <p:grpSp>
        <p:nvGrpSpPr>
          <p:cNvPr name="Group 64" id="64"/>
          <p:cNvGrpSpPr/>
          <p:nvPr/>
        </p:nvGrpSpPr>
        <p:grpSpPr>
          <a:xfrm rot="0">
            <a:off x="11386033" y="4865837"/>
            <a:ext cx="5161817" cy="2896914"/>
            <a:chOff x="0" y="0"/>
            <a:chExt cx="6882422" cy="3862553"/>
          </a:xfrm>
        </p:grpSpPr>
        <p:sp>
          <p:nvSpPr>
            <p:cNvPr name="Freeform 65" id="65"/>
            <p:cNvSpPr/>
            <p:nvPr/>
          </p:nvSpPr>
          <p:spPr>
            <a:xfrm flipH="false" flipV="false" rot="0">
              <a:off x="0" y="0"/>
              <a:ext cx="6882384" cy="3862578"/>
            </a:xfrm>
            <a:custGeom>
              <a:avLst/>
              <a:gdLst/>
              <a:ahLst/>
              <a:cxnLst/>
              <a:rect r="r" b="b" t="t" l="l"/>
              <a:pathLst>
                <a:path h="3862578" w="6882384">
                  <a:moveTo>
                    <a:pt x="0" y="643763"/>
                  </a:moveTo>
                  <a:cubicBezTo>
                    <a:pt x="0" y="288163"/>
                    <a:pt x="288163" y="0"/>
                    <a:pt x="643763" y="0"/>
                  </a:cubicBezTo>
                  <a:lnTo>
                    <a:pt x="6238621" y="0"/>
                  </a:lnTo>
                  <a:cubicBezTo>
                    <a:pt x="6594222" y="0"/>
                    <a:pt x="6882384" y="288163"/>
                    <a:pt x="6882384" y="643763"/>
                  </a:cubicBezTo>
                  <a:lnTo>
                    <a:pt x="6882384" y="3218815"/>
                  </a:lnTo>
                  <a:cubicBezTo>
                    <a:pt x="6882384" y="3574415"/>
                    <a:pt x="6594221" y="3862578"/>
                    <a:pt x="6238621" y="3862578"/>
                  </a:cubicBezTo>
                  <a:lnTo>
                    <a:pt x="643763" y="3862578"/>
                  </a:lnTo>
                  <a:cubicBezTo>
                    <a:pt x="288163" y="3862578"/>
                    <a:pt x="0" y="3574415"/>
                    <a:pt x="0" y="3218815"/>
                  </a:cubicBezTo>
                  <a:close/>
                </a:path>
              </a:pathLst>
            </a:custGeom>
            <a:solidFill>
              <a:srgbClr val="F4F8F9"/>
            </a:solidFill>
            <a:ln w="14299" cap="sq">
              <a:solidFill>
                <a:srgbClr val="E1EBED"/>
              </a:solidFill>
              <a:prstDash val="solid"/>
              <a:miter/>
            </a:ln>
          </p:spPr>
        </p:sp>
      </p:grpSp>
      <p:grpSp>
        <p:nvGrpSpPr>
          <p:cNvPr name="Group 66" id="66"/>
          <p:cNvGrpSpPr/>
          <p:nvPr/>
        </p:nvGrpSpPr>
        <p:grpSpPr>
          <a:xfrm rot="0">
            <a:off x="11393176" y="4872990"/>
            <a:ext cx="96088" cy="2882608"/>
            <a:chOff x="0" y="0"/>
            <a:chExt cx="128118" cy="3843477"/>
          </a:xfrm>
        </p:grpSpPr>
        <p:sp>
          <p:nvSpPr>
            <p:cNvPr name="Freeform 67" id="67"/>
            <p:cNvSpPr/>
            <p:nvPr/>
          </p:nvSpPr>
          <p:spPr>
            <a:xfrm flipH="false" flipV="false" rot="0">
              <a:off x="0" y="0"/>
              <a:ext cx="128143" cy="3843528"/>
            </a:xfrm>
            <a:custGeom>
              <a:avLst/>
              <a:gdLst/>
              <a:ahLst/>
              <a:cxnLst/>
              <a:rect r="r" b="b" t="t" l="l"/>
              <a:pathLst>
                <a:path h="3843528" w="128143">
                  <a:moveTo>
                    <a:pt x="0" y="0"/>
                  </a:moveTo>
                  <a:lnTo>
                    <a:pt x="128143" y="0"/>
                  </a:lnTo>
                  <a:lnTo>
                    <a:pt x="128143" y="3843528"/>
                  </a:lnTo>
                  <a:lnTo>
                    <a:pt x="0" y="3843528"/>
                  </a:lnTo>
                  <a:close/>
                </a:path>
              </a:pathLst>
            </a:custGeom>
            <a:solidFill>
              <a:srgbClr val="D54E4E"/>
            </a:solidFill>
          </p:spPr>
        </p:sp>
      </p:grpSp>
      <p:sp>
        <p:nvSpPr>
          <p:cNvPr name="TextBox 68" id="68"/>
          <p:cNvSpPr txBox="true"/>
          <p:nvPr/>
        </p:nvSpPr>
        <p:spPr>
          <a:xfrm rot="0">
            <a:off x="11827793" y="5193240"/>
            <a:ext cx="4415571" cy="3889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82"/>
              </a:lnSpc>
            </a:pPr>
            <a:r>
              <a:rPr lang="en-US" sz="2401" b="true">
                <a:solidFill>
                  <a:srgbClr val="0F1F2D"/>
                </a:solidFill>
                <a:latin typeface="Aptos Bold"/>
                <a:ea typeface="Aptos Bold"/>
                <a:cs typeface="Aptos Bold"/>
                <a:sym typeface="Aptos Bold"/>
              </a:rPr>
              <a:t>HIGH CONSUMPTION ALERT</a:t>
            </a:r>
          </a:p>
        </p:txBody>
      </p:sp>
      <p:sp>
        <p:nvSpPr>
          <p:cNvPr name="TextBox 69" id="69"/>
          <p:cNvSpPr txBox="true"/>
          <p:nvPr/>
        </p:nvSpPr>
        <p:spPr>
          <a:xfrm rot="0">
            <a:off x="11827793" y="5852122"/>
            <a:ext cx="4415571" cy="16930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51"/>
              </a:lnSpc>
            </a:pPr>
            <a:r>
              <a:rPr lang="en-US" sz="1876">
                <a:solidFill>
                  <a:srgbClr val="233038"/>
                </a:solidFill>
                <a:latin typeface="Aptos"/>
                <a:ea typeface="Aptos"/>
                <a:cs typeface="Aptos"/>
                <a:sym typeface="Aptos"/>
              </a:rPr>
              <a:t>21% above expected</a:t>
            </a:r>
          </a:p>
          <a:p>
            <a:pPr algn="l">
              <a:lnSpc>
                <a:spcPts val="2251"/>
              </a:lnSpc>
            </a:pPr>
            <a:r>
              <a:rPr lang="en-US" sz="1876">
                <a:solidFill>
                  <a:srgbClr val="233038"/>
                </a:solidFill>
                <a:latin typeface="Aptos"/>
                <a:ea typeface="Aptos"/>
                <a:cs typeface="Aptos"/>
                <a:sym typeface="Aptos"/>
              </a:rPr>
              <a:t>Main contributor: Air conditioner</a:t>
            </a:r>
          </a:p>
          <a:p>
            <a:pPr algn="l">
              <a:lnSpc>
                <a:spcPts val="2251"/>
              </a:lnSpc>
            </a:pPr>
            <a:r>
              <a:rPr lang="en-US" sz="1876">
                <a:solidFill>
                  <a:srgbClr val="233038"/>
                </a:solidFill>
                <a:latin typeface="Aptos"/>
                <a:ea typeface="Aptos"/>
                <a:cs typeface="Aptos"/>
                <a:sym typeface="Aptos"/>
              </a:rPr>
              <a:t>Highest days: Day 4, 7 and 11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301840" cy="10295039"/>
            <a:chOff x="0" y="0"/>
            <a:chExt cx="24402453" cy="1372671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402414" cy="13726668"/>
            </a:xfrm>
            <a:custGeom>
              <a:avLst/>
              <a:gdLst/>
              <a:ahLst/>
              <a:cxnLst/>
              <a:rect r="r" b="b" t="t" l="l"/>
              <a:pathLst>
                <a:path h="13726668" w="24402414">
                  <a:moveTo>
                    <a:pt x="0" y="0"/>
                  </a:moveTo>
                  <a:lnTo>
                    <a:pt x="24402414" y="0"/>
                  </a:lnTo>
                  <a:lnTo>
                    <a:pt x="24402414" y="13726668"/>
                  </a:lnTo>
                  <a:lnTo>
                    <a:pt x="0" y="13726668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sp>
        <p:nvSpPr>
          <p:cNvPr name="TextBox 4" id="4"/>
          <p:cNvSpPr txBox="true"/>
          <p:nvPr/>
        </p:nvSpPr>
        <p:spPr>
          <a:xfrm rot="0">
            <a:off x="983675" y="663426"/>
            <a:ext cx="16289188" cy="6635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043"/>
              </a:lnSpc>
            </a:pPr>
            <a:r>
              <a:rPr lang="en-US" sz="4203" b="true">
                <a:solidFill>
                  <a:srgbClr val="0F1F2D"/>
                </a:solidFill>
                <a:latin typeface="Aptos Bold"/>
                <a:ea typeface="Aptos Bold"/>
                <a:cs typeface="Aptos Bold"/>
                <a:sym typeface="Aptos Bold"/>
              </a:rPr>
              <a:t>Impact, Feasibility &amp; Future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024861" y="1487024"/>
            <a:ext cx="16014659" cy="4576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51"/>
              </a:lnSpc>
            </a:pPr>
            <a:r>
              <a:rPr lang="en-US" sz="1876">
                <a:solidFill>
                  <a:srgbClr val="66757D"/>
                </a:solidFill>
                <a:latin typeface="Aptos"/>
                <a:ea typeface="Aptos"/>
                <a:cs typeface="Aptos"/>
                <a:sym typeface="Aptos"/>
              </a:rPr>
              <a:t>What the system enables</a:t>
            </a:r>
          </a:p>
        </p:txBody>
      </p:sp>
      <p:grpSp>
        <p:nvGrpSpPr>
          <p:cNvPr name="Group 6" id="6"/>
          <p:cNvGrpSpPr/>
          <p:nvPr/>
        </p:nvGrpSpPr>
        <p:grpSpPr>
          <a:xfrm rot="0">
            <a:off x="953719" y="2120494"/>
            <a:ext cx="5161817" cy="2347846"/>
            <a:chOff x="0" y="0"/>
            <a:chExt cx="6882422" cy="3130461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6882384" cy="3130423"/>
            </a:xfrm>
            <a:custGeom>
              <a:avLst/>
              <a:gdLst/>
              <a:ahLst/>
              <a:cxnLst/>
              <a:rect r="r" b="b" t="t" l="l"/>
              <a:pathLst>
                <a:path h="3130423" w="6882384">
                  <a:moveTo>
                    <a:pt x="0" y="521716"/>
                  </a:moveTo>
                  <a:cubicBezTo>
                    <a:pt x="0" y="233553"/>
                    <a:pt x="233553" y="0"/>
                    <a:pt x="521716" y="0"/>
                  </a:cubicBezTo>
                  <a:lnTo>
                    <a:pt x="6360668" y="0"/>
                  </a:lnTo>
                  <a:cubicBezTo>
                    <a:pt x="6648831" y="0"/>
                    <a:pt x="6882384" y="233553"/>
                    <a:pt x="6882384" y="521716"/>
                  </a:cubicBezTo>
                  <a:lnTo>
                    <a:pt x="6882384" y="2608707"/>
                  </a:lnTo>
                  <a:cubicBezTo>
                    <a:pt x="6882384" y="2896870"/>
                    <a:pt x="6648831" y="3130423"/>
                    <a:pt x="6360668" y="3130423"/>
                  </a:cubicBezTo>
                  <a:lnTo>
                    <a:pt x="521716" y="3130423"/>
                  </a:lnTo>
                  <a:cubicBezTo>
                    <a:pt x="233553" y="3130423"/>
                    <a:pt x="0" y="2896870"/>
                    <a:pt x="0" y="2608707"/>
                  </a:cubicBezTo>
                  <a:close/>
                </a:path>
              </a:pathLst>
            </a:custGeom>
            <a:solidFill>
              <a:srgbClr val="F4F8F9"/>
            </a:solidFill>
            <a:ln w="14299" cap="sq">
              <a:solidFill>
                <a:srgbClr val="E1EBED"/>
              </a:solidFill>
              <a:prstDash val="solid"/>
              <a:miter/>
            </a:ln>
          </p:spPr>
        </p:sp>
      </p:grpSp>
      <p:grpSp>
        <p:nvGrpSpPr>
          <p:cNvPr name="Group 8" id="8"/>
          <p:cNvGrpSpPr/>
          <p:nvPr/>
        </p:nvGrpSpPr>
        <p:grpSpPr>
          <a:xfrm rot="0">
            <a:off x="960872" y="2127647"/>
            <a:ext cx="96088" cy="2333539"/>
            <a:chOff x="0" y="0"/>
            <a:chExt cx="128118" cy="3111386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28143" cy="3111373"/>
            </a:xfrm>
            <a:custGeom>
              <a:avLst/>
              <a:gdLst/>
              <a:ahLst/>
              <a:cxnLst/>
              <a:rect r="r" b="b" t="t" l="l"/>
              <a:pathLst>
                <a:path h="3111373" w="128143">
                  <a:moveTo>
                    <a:pt x="0" y="0"/>
                  </a:moveTo>
                  <a:lnTo>
                    <a:pt x="128143" y="0"/>
                  </a:lnTo>
                  <a:lnTo>
                    <a:pt x="128143" y="3111373"/>
                  </a:lnTo>
                  <a:lnTo>
                    <a:pt x="0" y="3111373"/>
                  </a:lnTo>
                  <a:close/>
                </a:path>
              </a:pathLst>
            </a:custGeom>
            <a:solidFill>
              <a:srgbClr val="13968F"/>
            </a:solidFill>
          </p:spPr>
        </p:sp>
      </p:grpSp>
      <p:sp>
        <p:nvSpPr>
          <p:cNvPr name="TextBox 10" id="10"/>
          <p:cNvSpPr txBox="true"/>
          <p:nvPr/>
        </p:nvSpPr>
        <p:spPr>
          <a:xfrm rot="0">
            <a:off x="1395479" y="2447896"/>
            <a:ext cx="4415571" cy="3889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82"/>
              </a:lnSpc>
            </a:pPr>
            <a:r>
              <a:rPr lang="en-US" sz="2401" b="true">
                <a:solidFill>
                  <a:srgbClr val="0F1F2D"/>
                </a:solidFill>
                <a:latin typeface="Aptos Bold"/>
                <a:ea typeface="Aptos Bold"/>
                <a:cs typeface="Aptos Bold"/>
                <a:sym typeface="Aptos Bold"/>
              </a:rPr>
              <a:t>ENVIRONMENTAL IMPACT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395479" y="3106779"/>
            <a:ext cx="4415571" cy="11439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51"/>
              </a:lnSpc>
            </a:pPr>
            <a:r>
              <a:rPr lang="en-US" sz="1876">
                <a:solidFill>
                  <a:srgbClr val="233038"/>
                </a:solidFill>
                <a:latin typeface="Aptos"/>
                <a:ea typeface="Aptos"/>
                <a:cs typeface="Aptos"/>
                <a:sym typeface="Aptos"/>
              </a:rPr>
              <a:t>Reduces unnecessary energy use by making hidden appliance-level consumption visible.</a:t>
            </a:r>
          </a:p>
        </p:txBody>
      </p:sp>
      <p:grpSp>
        <p:nvGrpSpPr>
          <p:cNvPr name="Group 12" id="12"/>
          <p:cNvGrpSpPr/>
          <p:nvPr/>
        </p:nvGrpSpPr>
        <p:grpSpPr>
          <a:xfrm rot="0">
            <a:off x="6581680" y="2120494"/>
            <a:ext cx="5161817" cy="2347846"/>
            <a:chOff x="0" y="0"/>
            <a:chExt cx="6882422" cy="3130461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6882384" cy="3130423"/>
            </a:xfrm>
            <a:custGeom>
              <a:avLst/>
              <a:gdLst/>
              <a:ahLst/>
              <a:cxnLst/>
              <a:rect r="r" b="b" t="t" l="l"/>
              <a:pathLst>
                <a:path h="3130423" w="6882384">
                  <a:moveTo>
                    <a:pt x="0" y="521716"/>
                  </a:moveTo>
                  <a:cubicBezTo>
                    <a:pt x="0" y="233553"/>
                    <a:pt x="233553" y="0"/>
                    <a:pt x="521716" y="0"/>
                  </a:cubicBezTo>
                  <a:lnTo>
                    <a:pt x="6360668" y="0"/>
                  </a:lnTo>
                  <a:cubicBezTo>
                    <a:pt x="6648831" y="0"/>
                    <a:pt x="6882384" y="233553"/>
                    <a:pt x="6882384" y="521716"/>
                  </a:cubicBezTo>
                  <a:lnTo>
                    <a:pt x="6882384" y="2608707"/>
                  </a:lnTo>
                  <a:cubicBezTo>
                    <a:pt x="6882384" y="2896870"/>
                    <a:pt x="6648831" y="3130423"/>
                    <a:pt x="6360668" y="3130423"/>
                  </a:cubicBezTo>
                  <a:lnTo>
                    <a:pt x="521716" y="3130423"/>
                  </a:lnTo>
                  <a:cubicBezTo>
                    <a:pt x="233553" y="3130423"/>
                    <a:pt x="0" y="2896870"/>
                    <a:pt x="0" y="2608707"/>
                  </a:cubicBezTo>
                  <a:close/>
                </a:path>
              </a:pathLst>
            </a:custGeom>
            <a:solidFill>
              <a:srgbClr val="F4F8F9"/>
            </a:solidFill>
            <a:ln w="14299" cap="sq">
              <a:solidFill>
                <a:srgbClr val="E1EBED"/>
              </a:solidFill>
              <a:prstDash val="solid"/>
              <a:miter/>
            </a:ln>
          </p:spPr>
        </p:sp>
      </p:grpSp>
      <p:grpSp>
        <p:nvGrpSpPr>
          <p:cNvPr name="Group 14" id="14"/>
          <p:cNvGrpSpPr/>
          <p:nvPr/>
        </p:nvGrpSpPr>
        <p:grpSpPr>
          <a:xfrm rot="0">
            <a:off x="6588824" y="2127647"/>
            <a:ext cx="96088" cy="2333539"/>
            <a:chOff x="0" y="0"/>
            <a:chExt cx="128118" cy="3111386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28143" cy="3111373"/>
            </a:xfrm>
            <a:custGeom>
              <a:avLst/>
              <a:gdLst/>
              <a:ahLst/>
              <a:cxnLst/>
              <a:rect r="r" b="b" t="t" l="l"/>
              <a:pathLst>
                <a:path h="3111373" w="128143">
                  <a:moveTo>
                    <a:pt x="0" y="0"/>
                  </a:moveTo>
                  <a:lnTo>
                    <a:pt x="128143" y="0"/>
                  </a:lnTo>
                  <a:lnTo>
                    <a:pt x="128143" y="3111373"/>
                  </a:lnTo>
                  <a:lnTo>
                    <a:pt x="0" y="3111373"/>
                  </a:lnTo>
                  <a:close/>
                </a:path>
              </a:pathLst>
            </a:custGeom>
            <a:solidFill>
              <a:srgbClr val="F29A49"/>
            </a:solidFill>
          </p:spPr>
        </p:sp>
      </p:grpSp>
      <p:sp>
        <p:nvSpPr>
          <p:cNvPr name="TextBox 16" id="16"/>
          <p:cNvSpPr txBox="true"/>
          <p:nvPr/>
        </p:nvSpPr>
        <p:spPr>
          <a:xfrm rot="0">
            <a:off x="7023440" y="2447896"/>
            <a:ext cx="4415571" cy="3889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82"/>
              </a:lnSpc>
            </a:pPr>
            <a:r>
              <a:rPr lang="en-US" sz="2401" b="true">
                <a:solidFill>
                  <a:srgbClr val="0F1F2D"/>
                </a:solidFill>
                <a:latin typeface="Aptos Bold"/>
                <a:ea typeface="Aptos Bold"/>
                <a:cs typeface="Aptos Bold"/>
                <a:sym typeface="Aptos Bold"/>
              </a:rPr>
              <a:t>SUSTAINABILITY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7023440" y="3106779"/>
            <a:ext cx="4415571" cy="11439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51"/>
              </a:lnSpc>
            </a:pPr>
            <a:r>
              <a:rPr lang="en-US" sz="1876">
                <a:solidFill>
                  <a:srgbClr val="233038"/>
                </a:solidFill>
                <a:latin typeface="Aptos"/>
                <a:ea typeface="Aptos"/>
                <a:cs typeface="Aptos"/>
                <a:sym typeface="Aptos"/>
              </a:rPr>
              <a:t>Supports SDG 7 and SDG 12 through efficient and responsible electricity use.</a:t>
            </a:r>
          </a:p>
        </p:txBody>
      </p:sp>
      <p:grpSp>
        <p:nvGrpSpPr>
          <p:cNvPr name="Group 18" id="18"/>
          <p:cNvGrpSpPr/>
          <p:nvPr/>
        </p:nvGrpSpPr>
        <p:grpSpPr>
          <a:xfrm rot="0">
            <a:off x="12209631" y="2120494"/>
            <a:ext cx="5161817" cy="2347846"/>
            <a:chOff x="0" y="0"/>
            <a:chExt cx="6882422" cy="3130461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6882384" cy="3130423"/>
            </a:xfrm>
            <a:custGeom>
              <a:avLst/>
              <a:gdLst/>
              <a:ahLst/>
              <a:cxnLst/>
              <a:rect r="r" b="b" t="t" l="l"/>
              <a:pathLst>
                <a:path h="3130423" w="6882384">
                  <a:moveTo>
                    <a:pt x="0" y="521716"/>
                  </a:moveTo>
                  <a:cubicBezTo>
                    <a:pt x="0" y="233553"/>
                    <a:pt x="233553" y="0"/>
                    <a:pt x="521716" y="0"/>
                  </a:cubicBezTo>
                  <a:lnTo>
                    <a:pt x="6360668" y="0"/>
                  </a:lnTo>
                  <a:cubicBezTo>
                    <a:pt x="6648831" y="0"/>
                    <a:pt x="6882384" y="233553"/>
                    <a:pt x="6882384" y="521716"/>
                  </a:cubicBezTo>
                  <a:lnTo>
                    <a:pt x="6882384" y="2608707"/>
                  </a:lnTo>
                  <a:cubicBezTo>
                    <a:pt x="6882384" y="2896870"/>
                    <a:pt x="6648831" y="3130423"/>
                    <a:pt x="6360668" y="3130423"/>
                  </a:cubicBezTo>
                  <a:lnTo>
                    <a:pt x="521716" y="3130423"/>
                  </a:lnTo>
                  <a:cubicBezTo>
                    <a:pt x="233553" y="3130423"/>
                    <a:pt x="0" y="2896870"/>
                    <a:pt x="0" y="2608707"/>
                  </a:cubicBezTo>
                  <a:close/>
                </a:path>
              </a:pathLst>
            </a:custGeom>
            <a:solidFill>
              <a:srgbClr val="F4F8F9"/>
            </a:solidFill>
            <a:ln w="14299" cap="sq">
              <a:solidFill>
                <a:srgbClr val="E1EBED"/>
              </a:solidFill>
              <a:prstDash val="solid"/>
              <a:miter/>
            </a:ln>
          </p:spPr>
        </p:sp>
      </p:grpSp>
      <p:grpSp>
        <p:nvGrpSpPr>
          <p:cNvPr name="Group 20" id="20"/>
          <p:cNvGrpSpPr/>
          <p:nvPr/>
        </p:nvGrpSpPr>
        <p:grpSpPr>
          <a:xfrm rot="0">
            <a:off x="12216784" y="2127647"/>
            <a:ext cx="96088" cy="2333539"/>
            <a:chOff x="0" y="0"/>
            <a:chExt cx="128118" cy="3111386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128143" cy="3111373"/>
            </a:xfrm>
            <a:custGeom>
              <a:avLst/>
              <a:gdLst/>
              <a:ahLst/>
              <a:cxnLst/>
              <a:rect r="r" b="b" t="t" l="l"/>
              <a:pathLst>
                <a:path h="3111373" w="128143">
                  <a:moveTo>
                    <a:pt x="0" y="0"/>
                  </a:moveTo>
                  <a:lnTo>
                    <a:pt x="128143" y="0"/>
                  </a:lnTo>
                  <a:lnTo>
                    <a:pt x="128143" y="3111373"/>
                  </a:lnTo>
                  <a:lnTo>
                    <a:pt x="0" y="3111373"/>
                  </a:lnTo>
                  <a:close/>
                </a:path>
              </a:pathLst>
            </a:custGeom>
            <a:solidFill>
              <a:srgbClr val="13968F"/>
            </a:solidFill>
          </p:spPr>
        </p:sp>
      </p:grpSp>
      <p:sp>
        <p:nvSpPr>
          <p:cNvPr name="TextBox 22" id="22"/>
          <p:cNvSpPr txBox="true"/>
          <p:nvPr/>
        </p:nvSpPr>
        <p:spPr>
          <a:xfrm rot="0">
            <a:off x="12651391" y="2447896"/>
            <a:ext cx="4415571" cy="3889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82"/>
              </a:lnSpc>
            </a:pPr>
            <a:r>
              <a:rPr lang="en-US" sz="2401" b="true">
                <a:solidFill>
                  <a:srgbClr val="0F1F2D"/>
                </a:solidFill>
                <a:latin typeface="Aptos Bold"/>
                <a:ea typeface="Aptos Bold"/>
                <a:cs typeface="Aptos Bold"/>
                <a:sym typeface="Aptos Bold"/>
              </a:rPr>
              <a:t>FEASIBILITY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12651391" y="3106779"/>
            <a:ext cx="4415571" cy="11439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51"/>
              </a:lnSpc>
            </a:pPr>
            <a:r>
              <a:rPr lang="en-US" sz="1876">
                <a:solidFill>
                  <a:srgbClr val="233038"/>
                </a:solidFill>
                <a:latin typeface="Aptos"/>
                <a:ea typeface="Aptos"/>
                <a:cs typeface="Aptos"/>
                <a:sym typeface="Aptos"/>
              </a:rPr>
              <a:t>Can be developed using smart-meter data, NILM models, databases and a web dashboard.</a:t>
            </a:r>
          </a:p>
        </p:txBody>
      </p:sp>
      <p:grpSp>
        <p:nvGrpSpPr>
          <p:cNvPr name="Group 24" id="24"/>
          <p:cNvGrpSpPr/>
          <p:nvPr/>
        </p:nvGrpSpPr>
        <p:grpSpPr>
          <a:xfrm rot="0">
            <a:off x="953719" y="5003102"/>
            <a:ext cx="7838532" cy="2416473"/>
            <a:chOff x="0" y="0"/>
            <a:chExt cx="10451376" cy="3221965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10451338" cy="3221863"/>
            </a:xfrm>
            <a:custGeom>
              <a:avLst/>
              <a:gdLst/>
              <a:ahLst/>
              <a:cxnLst/>
              <a:rect r="r" b="b" t="t" l="l"/>
              <a:pathLst>
                <a:path h="3221863" w="10451338">
                  <a:moveTo>
                    <a:pt x="0" y="536956"/>
                  </a:moveTo>
                  <a:cubicBezTo>
                    <a:pt x="0" y="240411"/>
                    <a:pt x="240411" y="0"/>
                    <a:pt x="536956" y="0"/>
                  </a:cubicBezTo>
                  <a:lnTo>
                    <a:pt x="9914382" y="0"/>
                  </a:lnTo>
                  <a:cubicBezTo>
                    <a:pt x="10210926" y="0"/>
                    <a:pt x="10451338" y="240411"/>
                    <a:pt x="10451338" y="536956"/>
                  </a:cubicBezTo>
                  <a:lnTo>
                    <a:pt x="10451338" y="2684907"/>
                  </a:lnTo>
                  <a:cubicBezTo>
                    <a:pt x="10451338" y="2981452"/>
                    <a:pt x="10210926" y="3221863"/>
                    <a:pt x="9914382" y="3221863"/>
                  </a:cubicBezTo>
                  <a:lnTo>
                    <a:pt x="536956" y="3221863"/>
                  </a:lnTo>
                  <a:cubicBezTo>
                    <a:pt x="240411" y="3221990"/>
                    <a:pt x="0" y="2981579"/>
                    <a:pt x="0" y="2684907"/>
                  </a:cubicBezTo>
                  <a:close/>
                </a:path>
              </a:pathLst>
            </a:custGeom>
            <a:solidFill>
              <a:srgbClr val="F4F8F9"/>
            </a:solidFill>
            <a:ln w="14299" cap="sq">
              <a:solidFill>
                <a:srgbClr val="E1EBED"/>
              </a:solidFill>
              <a:prstDash val="solid"/>
              <a:miter/>
            </a:ln>
          </p:spPr>
        </p:sp>
      </p:grpSp>
      <p:grpSp>
        <p:nvGrpSpPr>
          <p:cNvPr name="Group 26" id="26"/>
          <p:cNvGrpSpPr/>
          <p:nvPr/>
        </p:nvGrpSpPr>
        <p:grpSpPr>
          <a:xfrm rot="0">
            <a:off x="960872" y="5010255"/>
            <a:ext cx="96088" cy="2402176"/>
            <a:chOff x="0" y="0"/>
            <a:chExt cx="128118" cy="3202902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128143" cy="3202940"/>
            </a:xfrm>
            <a:custGeom>
              <a:avLst/>
              <a:gdLst/>
              <a:ahLst/>
              <a:cxnLst/>
              <a:rect r="r" b="b" t="t" l="l"/>
              <a:pathLst>
                <a:path h="3202940" w="128143">
                  <a:moveTo>
                    <a:pt x="0" y="0"/>
                  </a:moveTo>
                  <a:lnTo>
                    <a:pt x="128143" y="0"/>
                  </a:lnTo>
                  <a:lnTo>
                    <a:pt x="128143" y="3202940"/>
                  </a:lnTo>
                  <a:lnTo>
                    <a:pt x="0" y="3202940"/>
                  </a:lnTo>
                  <a:close/>
                </a:path>
              </a:pathLst>
            </a:custGeom>
            <a:solidFill>
              <a:srgbClr val="D54E4E"/>
            </a:solidFill>
          </p:spPr>
        </p:sp>
      </p:grpSp>
      <p:sp>
        <p:nvSpPr>
          <p:cNvPr name="TextBox 28" id="28"/>
          <p:cNvSpPr txBox="true"/>
          <p:nvPr/>
        </p:nvSpPr>
        <p:spPr>
          <a:xfrm rot="0">
            <a:off x="1395479" y="5330504"/>
            <a:ext cx="7092286" cy="3889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82"/>
              </a:lnSpc>
            </a:pPr>
            <a:r>
              <a:rPr lang="en-US" sz="2401" b="true">
                <a:solidFill>
                  <a:srgbClr val="0F1F2D"/>
                </a:solidFill>
                <a:latin typeface="Aptos Bold"/>
                <a:ea typeface="Aptos Bold"/>
                <a:cs typeface="Aptos Bold"/>
                <a:sym typeface="Aptos Bold"/>
              </a:rPr>
              <a:t>LIMITATION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1395479" y="5989396"/>
            <a:ext cx="7092286" cy="12125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51"/>
              </a:lnSpc>
            </a:pPr>
            <a:r>
              <a:rPr lang="en-US" sz="1876">
                <a:solidFill>
                  <a:srgbClr val="233038"/>
                </a:solidFill>
                <a:latin typeface="Aptos"/>
                <a:ea typeface="Aptos"/>
                <a:cs typeface="Aptos"/>
                <a:sym typeface="Aptos"/>
              </a:rPr>
              <a:t>NILM produces estimates. Accuracy may be affected by simultaneous appliances, similar electrical signatures, data quality and sampling frequency.</a:t>
            </a:r>
          </a:p>
        </p:txBody>
      </p:sp>
      <p:grpSp>
        <p:nvGrpSpPr>
          <p:cNvPr name="Group 30" id="30"/>
          <p:cNvGrpSpPr/>
          <p:nvPr/>
        </p:nvGrpSpPr>
        <p:grpSpPr>
          <a:xfrm rot="0">
            <a:off x="9327023" y="5003102"/>
            <a:ext cx="8044434" cy="2416473"/>
            <a:chOff x="0" y="0"/>
            <a:chExt cx="10725912" cy="3221965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10725913" cy="3221863"/>
            </a:xfrm>
            <a:custGeom>
              <a:avLst/>
              <a:gdLst/>
              <a:ahLst/>
              <a:cxnLst/>
              <a:rect r="r" b="b" t="t" l="l"/>
              <a:pathLst>
                <a:path h="3221863" w="10725913">
                  <a:moveTo>
                    <a:pt x="0" y="536956"/>
                  </a:moveTo>
                  <a:cubicBezTo>
                    <a:pt x="0" y="240411"/>
                    <a:pt x="240411" y="0"/>
                    <a:pt x="536956" y="0"/>
                  </a:cubicBezTo>
                  <a:lnTo>
                    <a:pt x="10188956" y="0"/>
                  </a:lnTo>
                  <a:cubicBezTo>
                    <a:pt x="10485501" y="0"/>
                    <a:pt x="10725913" y="240411"/>
                    <a:pt x="10725913" y="536956"/>
                  </a:cubicBezTo>
                  <a:lnTo>
                    <a:pt x="10725913" y="2684907"/>
                  </a:lnTo>
                  <a:cubicBezTo>
                    <a:pt x="10725913" y="2981452"/>
                    <a:pt x="10485501" y="3221863"/>
                    <a:pt x="10188956" y="3221863"/>
                  </a:cubicBezTo>
                  <a:lnTo>
                    <a:pt x="536956" y="3221863"/>
                  </a:lnTo>
                  <a:cubicBezTo>
                    <a:pt x="240411" y="3221990"/>
                    <a:pt x="0" y="2981579"/>
                    <a:pt x="0" y="2684907"/>
                  </a:cubicBezTo>
                  <a:close/>
                </a:path>
              </a:pathLst>
            </a:custGeom>
            <a:solidFill>
              <a:srgbClr val="F4F8F9"/>
            </a:solidFill>
            <a:ln w="14299" cap="sq">
              <a:solidFill>
                <a:srgbClr val="E1EBED"/>
              </a:solidFill>
              <a:prstDash val="solid"/>
              <a:miter/>
            </a:ln>
          </p:spPr>
        </p:sp>
      </p:grpSp>
      <p:grpSp>
        <p:nvGrpSpPr>
          <p:cNvPr name="Group 32" id="32"/>
          <p:cNvGrpSpPr/>
          <p:nvPr/>
        </p:nvGrpSpPr>
        <p:grpSpPr>
          <a:xfrm rot="0">
            <a:off x="9334176" y="5010255"/>
            <a:ext cx="96088" cy="2402176"/>
            <a:chOff x="0" y="0"/>
            <a:chExt cx="128118" cy="3202902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128143" cy="3202940"/>
            </a:xfrm>
            <a:custGeom>
              <a:avLst/>
              <a:gdLst/>
              <a:ahLst/>
              <a:cxnLst/>
              <a:rect r="r" b="b" t="t" l="l"/>
              <a:pathLst>
                <a:path h="3202940" w="128143">
                  <a:moveTo>
                    <a:pt x="0" y="0"/>
                  </a:moveTo>
                  <a:lnTo>
                    <a:pt x="128143" y="0"/>
                  </a:lnTo>
                  <a:lnTo>
                    <a:pt x="128143" y="3202940"/>
                  </a:lnTo>
                  <a:lnTo>
                    <a:pt x="0" y="3202940"/>
                  </a:lnTo>
                  <a:close/>
                </a:path>
              </a:pathLst>
            </a:custGeom>
            <a:solidFill>
              <a:srgbClr val="F29A49"/>
            </a:solidFill>
          </p:spPr>
        </p:sp>
      </p:grpSp>
      <p:sp>
        <p:nvSpPr>
          <p:cNvPr name="TextBox 34" id="34"/>
          <p:cNvSpPr txBox="true"/>
          <p:nvPr/>
        </p:nvSpPr>
        <p:spPr>
          <a:xfrm rot="0">
            <a:off x="9768783" y="5330504"/>
            <a:ext cx="7298179" cy="3889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82"/>
              </a:lnSpc>
            </a:pPr>
            <a:r>
              <a:rPr lang="en-US" sz="2401" b="true">
                <a:solidFill>
                  <a:srgbClr val="0F1F2D"/>
                </a:solidFill>
                <a:latin typeface="Aptos Bold"/>
                <a:ea typeface="Aptos Bold"/>
                <a:cs typeface="Aptos Bold"/>
                <a:sym typeface="Aptos Bold"/>
              </a:rPr>
              <a:t>FUTURE ENHANCEMENTS</a:t>
            </a:r>
          </a:p>
        </p:txBody>
      </p:sp>
      <p:sp>
        <p:nvSpPr>
          <p:cNvPr name="TextBox 35" id="35"/>
          <p:cNvSpPr txBox="true"/>
          <p:nvPr/>
        </p:nvSpPr>
        <p:spPr>
          <a:xfrm rot="0">
            <a:off x="9768783" y="5989396"/>
            <a:ext cx="7298179" cy="12125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51"/>
              </a:lnSpc>
            </a:pPr>
            <a:r>
              <a:rPr lang="en-US" sz="1876">
                <a:solidFill>
                  <a:srgbClr val="233038"/>
                </a:solidFill>
                <a:latin typeface="Aptos"/>
                <a:ea typeface="Aptos"/>
                <a:cs typeface="Aptos"/>
                <a:sym typeface="Aptos"/>
              </a:rPr>
              <a:t>Advanced ML • seasonal comparison • bill prediction • carbon-footprint estimation • mobile notifications</a:t>
            </a:r>
          </a:p>
        </p:txBody>
      </p:sp>
      <p:sp>
        <p:nvSpPr>
          <p:cNvPr name="TextBox 36" id="36"/>
          <p:cNvSpPr txBox="true"/>
          <p:nvPr/>
        </p:nvSpPr>
        <p:spPr>
          <a:xfrm rot="0">
            <a:off x="1189577" y="8213122"/>
            <a:ext cx="1876130" cy="3203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1"/>
              </a:lnSpc>
            </a:pPr>
            <a:r>
              <a:rPr lang="en-US" sz="1801" b="true">
                <a:solidFill>
                  <a:srgbClr val="13968F"/>
                </a:solidFill>
                <a:latin typeface="Aptos Bold"/>
                <a:ea typeface="Aptos Bold"/>
                <a:cs typeface="Aptos Bold"/>
                <a:sym typeface="Aptos Bold"/>
              </a:rPr>
              <a:t>FINAL IDEA</a:t>
            </a:r>
          </a:p>
        </p:txBody>
      </p:sp>
      <p:sp>
        <p:nvSpPr>
          <p:cNvPr name="TextBox 37" id="37"/>
          <p:cNvSpPr txBox="true"/>
          <p:nvPr/>
        </p:nvSpPr>
        <p:spPr>
          <a:xfrm rot="0">
            <a:off x="3111322" y="8075857"/>
            <a:ext cx="13406580" cy="6635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02"/>
              </a:lnSpc>
            </a:pPr>
            <a:r>
              <a:rPr lang="en-US" sz="3002" b="true">
                <a:solidFill>
                  <a:srgbClr val="0F1F2D"/>
                </a:solidFill>
                <a:latin typeface="Aptos Bold"/>
                <a:ea typeface="Aptos Bold"/>
                <a:cs typeface="Aptos Bold"/>
                <a:sym typeface="Aptos Bold"/>
              </a:rPr>
              <a:t>Measure → Disaggregate → Understand → Alert → Act</a:t>
            </a:r>
          </a:p>
        </p:txBody>
      </p:sp>
      <p:sp>
        <p:nvSpPr>
          <p:cNvPr name="TextBox 38" id="38"/>
          <p:cNvSpPr txBox="true"/>
          <p:nvPr/>
        </p:nvSpPr>
        <p:spPr>
          <a:xfrm rot="0">
            <a:off x="1464116" y="9036720"/>
            <a:ext cx="15328316" cy="3889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071"/>
              </a:lnSpc>
            </a:pPr>
            <a:r>
              <a:rPr lang="en-US" sz="1726">
                <a:solidFill>
                  <a:srgbClr val="66757D"/>
                </a:solidFill>
                <a:latin typeface="Aptos"/>
                <a:ea typeface="Aptos"/>
                <a:cs typeface="Aptos"/>
                <a:sym typeface="Aptos"/>
              </a:rPr>
              <a:t>The goal is not only to show electricity consumption, but to explain where excessive consumption is coming from.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DAHViYQmM84</dc:identifier>
  <dcterms:modified xsi:type="dcterms:W3CDTF">2011-08-01T06:04:30Z</dcterms:modified>
  <cp:revision>1</cp:revision>
  <dc:title>NILM_Smart_Energy_5_Page_Canva_PPT.pptx</dc:title>
</cp:coreProperties>
</file>